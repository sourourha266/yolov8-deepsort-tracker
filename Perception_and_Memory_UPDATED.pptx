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C7DC"/>
    <a:srgbClr val="2327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58456" autoAdjust="0"/>
  </p:normalViewPr>
  <p:slideViewPr>
    <p:cSldViewPr snapToGrid="0" snapToObjects="1">
      <p:cViewPr varScale="1">
        <p:scale>
          <a:sx n="46" d="100"/>
          <a:sy n="46" d="100"/>
        </p:scale>
        <p:origin x="1863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0662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5065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247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1373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179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178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307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50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17" Type="http://schemas.openxmlformats.org/officeDocument/2006/relationships/image" Target="../media/image9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5" Type="http://schemas.openxmlformats.org/officeDocument/2006/relationships/image" Target="../media/image8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7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272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5023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7431" y="4114800"/>
            <a:ext cx="1139428" cy="985838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4925" y="250031"/>
            <a:ext cx="4025503" cy="4032647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3222" y="2686050"/>
            <a:ext cx="171450" cy="142875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6369" y="1096566"/>
            <a:ext cx="1328738" cy="2936081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8565356" y="4943475"/>
            <a:ext cx="52149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70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236369" y="828675"/>
            <a:ext cx="60721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3" b="1" dirty="0">
                <a:solidFill>
                  <a:srgbClr val="165F7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#ID_04</a:t>
            </a:r>
            <a:endParaRPr lang="en-US" sz="135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41177" y="3664744"/>
            <a:ext cx="3396853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Presented by: </a:t>
            </a:r>
            <a:r>
              <a:rPr lang="en-US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Sourour </a:t>
            </a:r>
            <a:r>
              <a:rPr lang="en-US" sz="1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Hammoud</a:t>
            </a:r>
          </a:p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Supervised by:</a:t>
            </a: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Pr. Mohamad KHALIL </a:t>
            </a:r>
          </a:p>
          <a:p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</p:txBody>
      </p:sp>
      <p:sp>
        <p:nvSpPr>
          <p:cNvPr id="12" name="Text 4"/>
          <p:cNvSpPr/>
          <p:nvPr/>
        </p:nvSpPr>
        <p:spPr>
          <a:xfrm>
            <a:off x="792956" y="2243138"/>
            <a:ext cx="3346847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23" b="1" dirty="0">
                <a:solidFill>
                  <a:srgbClr val="878B9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Real-Time Object Detection</a:t>
            </a:r>
            <a:endParaRPr lang="en-US" sz="212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123" b="1" dirty="0">
                <a:solidFill>
                  <a:srgbClr val="878B9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and Tracking utilizing</a:t>
            </a:r>
            <a:endParaRPr lang="en-US" sz="212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123" b="1" dirty="0">
                <a:solidFill>
                  <a:srgbClr val="878B9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YOLOv8 and DeepSORT</a:t>
            </a:r>
            <a:endParaRPr lang="en-US" sz="212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5"/>
          <p:cNvSpPr/>
          <p:nvPr/>
        </p:nvSpPr>
        <p:spPr>
          <a:xfrm>
            <a:off x="810816" y="1003697"/>
            <a:ext cx="2853928" cy="11894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615" b="1" dirty="0">
                <a:solidFill>
                  <a:srgbClr val="D4D8D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Perception</a:t>
            </a:r>
            <a:endParaRPr lang="en-US" sz="461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4615" b="1" dirty="0">
                <a:solidFill>
                  <a:srgbClr val="D4D8D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&amp; Memory</a:t>
            </a:r>
            <a:endParaRPr lang="en-US" sz="461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2" descr="Ulfg">
            <a:extLst>
              <a:ext uri="{FF2B5EF4-FFF2-40B4-BE49-F238E27FC236}">
                <a16:creationId xmlns:a16="http://schemas.microsoft.com/office/drawing/2014/main" id="{21FF2CEB-03DB-D713-CACC-9C36F9D34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" y="35718"/>
            <a:ext cx="823317" cy="823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781" y="523843"/>
            <a:ext cx="4747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D4D8D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Presentation Outline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466282" y="1122123"/>
            <a:ext cx="7878375" cy="3663655"/>
            <a:chOff x="411781" y="1247460"/>
            <a:chExt cx="7878375" cy="3663655"/>
          </a:xfrm>
        </p:grpSpPr>
        <p:sp>
          <p:nvSpPr>
            <p:cNvPr id="2" name="TextBox 1"/>
            <p:cNvSpPr txBox="1"/>
            <p:nvPr/>
          </p:nvSpPr>
          <p:spPr>
            <a:xfrm>
              <a:off x="508673" y="1295905"/>
              <a:ext cx="4844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rgbClr val="22C7DC"/>
                  </a:solidFill>
                </a:rPr>
                <a:t>1-</a:t>
              </a:r>
              <a:endParaRPr lang="en-US" b="1" dirty="0">
                <a:solidFill>
                  <a:srgbClr val="22C7DC"/>
                </a:solidFill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508673" y="2756416"/>
              <a:ext cx="3722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22C7DC"/>
                  </a:solidFill>
                </a:rPr>
                <a:t>5</a:t>
              </a:r>
              <a:r>
                <a:rPr lang="en-US" b="1" dirty="0" smtClean="0">
                  <a:solidFill>
                    <a:srgbClr val="22C7DC"/>
                  </a:solidFill>
                </a:rPr>
                <a:t>-</a:t>
              </a:r>
              <a:endParaRPr lang="en-US" b="1" dirty="0">
                <a:solidFill>
                  <a:srgbClr val="22C7DC"/>
                </a:solidFill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508673" y="2388250"/>
              <a:ext cx="3722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smtClean="0">
                  <a:solidFill>
                    <a:srgbClr val="22C7DC"/>
                  </a:solidFill>
                </a:rPr>
                <a:t>4-</a:t>
              </a:r>
              <a:endParaRPr lang="en-US" b="1" dirty="0">
                <a:solidFill>
                  <a:srgbClr val="22C7DC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508673" y="2065347"/>
              <a:ext cx="3722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smtClean="0">
                  <a:solidFill>
                    <a:srgbClr val="22C7DC"/>
                  </a:solidFill>
                </a:rPr>
                <a:t>3-</a:t>
              </a:r>
              <a:endParaRPr lang="en-US" b="1" dirty="0">
                <a:solidFill>
                  <a:srgbClr val="22C7DC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508673" y="1696015"/>
              <a:ext cx="3722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smtClean="0">
                  <a:solidFill>
                    <a:srgbClr val="22C7DC"/>
                  </a:solidFill>
                </a:rPr>
                <a:t>2-</a:t>
              </a:r>
              <a:endParaRPr lang="en-US" b="1" dirty="0">
                <a:solidFill>
                  <a:srgbClr val="22C7DC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08223" y="1339933"/>
              <a:ext cx="64976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From Spatial </a:t>
              </a:r>
              <a:r>
                <a:rPr lang="en-US" sz="14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Recognition</a:t>
              </a:r>
              <a:r>
                <a:rPr lang="en-US" sz="14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to </a:t>
              </a:r>
              <a:r>
                <a:rPr lang="en-US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Temporal </a:t>
              </a:r>
              <a:r>
                <a:rPr lang="en-US" sz="14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Persistence</a:t>
              </a:r>
              <a:endPara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08223" y="1718084"/>
              <a:ext cx="64976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YOLOv8 Spatial Architecture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08223" y="2078635"/>
              <a:ext cx="64976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Introducing DeepSORT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08223" y="2402044"/>
              <a:ext cx="64976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Detection Meets Association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08223" y="2791206"/>
              <a:ext cx="64976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Executing The Real-Time Pipeline Architecture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08673" y="4092296"/>
              <a:ext cx="3722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22C7DC"/>
                  </a:solidFill>
                </a:rPr>
                <a:t>9</a:t>
              </a:r>
              <a:r>
                <a:rPr lang="en-US" b="1" dirty="0" smtClean="0">
                  <a:solidFill>
                    <a:srgbClr val="22C7DC"/>
                  </a:solidFill>
                </a:rPr>
                <a:t>-</a:t>
              </a:r>
              <a:endParaRPr lang="en-US" b="1" dirty="0">
                <a:solidFill>
                  <a:srgbClr val="22C7DC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08673" y="3774202"/>
              <a:ext cx="3722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smtClean="0">
                  <a:solidFill>
                    <a:srgbClr val="22C7DC"/>
                  </a:solidFill>
                </a:rPr>
                <a:t>8-</a:t>
              </a:r>
              <a:endParaRPr lang="en-US" b="1" dirty="0">
                <a:solidFill>
                  <a:srgbClr val="22C7DC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08673" y="3404870"/>
              <a:ext cx="3722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smtClean="0">
                  <a:solidFill>
                    <a:srgbClr val="22C7DC"/>
                  </a:solidFill>
                </a:rPr>
                <a:t>7-</a:t>
              </a:r>
              <a:endParaRPr lang="en-US" b="1" dirty="0">
                <a:solidFill>
                  <a:srgbClr val="22C7DC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08673" y="3086776"/>
              <a:ext cx="37221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22C7DC"/>
                  </a:solidFill>
                </a:rPr>
                <a:t>6</a:t>
              </a:r>
              <a:r>
                <a:rPr lang="en-US" b="1" dirty="0" smtClean="0">
                  <a:solidFill>
                    <a:srgbClr val="22C7DC"/>
                  </a:solidFill>
                </a:rPr>
                <a:t>-</a:t>
              </a:r>
              <a:endParaRPr lang="en-US" b="1" dirty="0">
                <a:solidFill>
                  <a:srgbClr val="22C7DC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08223" y="4087819"/>
              <a:ext cx="64976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Navigating System Limitations And Edge Cases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08223" y="3786160"/>
              <a:ext cx="64976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Real-Time Tracking &amp; Dynamic Annotation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08223" y="3421053"/>
              <a:ext cx="64976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The Implementation Technology Stack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08223" y="3097093"/>
              <a:ext cx="64976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System Configuration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16221" y="4410390"/>
              <a:ext cx="6408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rgbClr val="22C7DC"/>
                  </a:solidFill>
                </a:rPr>
                <a:t>10-</a:t>
              </a:r>
              <a:endParaRPr lang="en-US" b="1" dirty="0">
                <a:solidFill>
                  <a:srgbClr val="22C7DC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08223" y="4420707"/>
              <a:ext cx="64976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Deploying Tracking Into Real-World Environments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11781" y="1247460"/>
              <a:ext cx="7878375" cy="3663655"/>
            </a:xfrm>
            <a:prstGeom prst="rect">
              <a:avLst/>
            </a:prstGeom>
            <a:noFill/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8460282" y="4758095"/>
            <a:ext cx="328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874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4501"/>
            <a:ext cx="9144000" cy="52683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" y="146447"/>
            <a:ext cx="8943975" cy="4914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561784" y="4972050"/>
            <a:ext cx="52506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endParaRPr lang="en-US" sz="70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1"/>
          <p:cNvSpPr/>
          <p:nvPr/>
        </p:nvSpPr>
        <p:spPr>
          <a:xfrm>
            <a:off x="8236744" y="4986338"/>
            <a:ext cx="164306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50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2"/>
          <p:cNvSpPr/>
          <p:nvPr/>
        </p:nvSpPr>
        <p:spPr>
          <a:xfrm>
            <a:off x="692944" y="4986338"/>
            <a:ext cx="24645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435D4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ONLINE</a:t>
            </a:r>
            <a:endParaRPr lang="en-US" sz="5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128588" y="4986338"/>
            <a:ext cx="532209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03" dirty="0">
                <a:solidFill>
                  <a:srgbClr val="5B5B5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SYSTEN STATUS:</a:t>
            </a:r>
            <a:endParaRPr lang="en-US" sz="50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5388" y="4807744"/>
            <a:ext cx="100013" cy="96441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594" y="4807744"/>
            <a:ext cx="96441" cy="96441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9086850" y="4321969"/>
            <a:ext cx="57150" cy="321469"/>
          </a:xfrm>
          <a:prstGeom prst="rect">
            <a:avLst/>
          </a:prstGeom>
          <a:solidFill>
            <a:srgbClr val="1B1B1B"/>
          </a:solidFill>
          <a:ln/>
        </p:spPr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1303" y="3914775"/>
            <a:ext cx="4054078" cy="850106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875609" y="4054078"/>
            <a:ext cx="3450431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4A4A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Object tracking bridges the temporal gap. By linking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A4A4A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detections across frames, the system unlocks real-world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82191" y="3914775"/>
            <a:ext cx="4054078" cy="850106"/>
          </a:xfrm>
          <a:prstGeom prst="rect">
            <a:avLst/>
          </a:prstGeom>
          <a:solidFill>
            <a:srgbClr val="191A1A"/>
          </a:solidFill>
          <a:ln/>
        </p:spPr>
      </p:sp>
      <p:sp>
        <p:nvSpPr>
          <p:cNvPr id="15" name="Text 7"/>
          <p:cNvSpPr/>
          <p:nvPr/>
        </p:nvSpPr>
        <p:spPr>
          <a:xfrm>
            <a:off x="539353" y="4050506"/>
            <a:ext cx="3739753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94" b="1" dirty="0">
                <a:solidFill>
                  <a:srgbClr val="A4A4A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Standard detection algorithms classify and localize objects in</a:t>
            </a:r>
            <a:endParaRPr lang="en-US" sz="109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94" b="1" dirty="0">
                <a:solidFill>
                  <a:srgbClr val="A4A4A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2D space but treat sequential video frames as completely</a:t>
            </a:r>
            <a:endParaRPr lang="en-US" sz="109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94" b="1" dirty="0">
                <a:solidFill>
                  <a:srgbClr val="A4A4A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independent images. A system with zero short-term memory.</a:t>
            </a:r>
            <a:endParaRPr lang="en-US" sz="109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444" y="4168378"/>
            <a:ext cx="250031" cy="578644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9090422" y="2736056"/>
            <a:ext cx="53578" cy="360759"/>
          </a:xfrm>
          <a:prstGeom prst="rect">
            <a:avLst/>
          </a:prstGeom>
          <a:solidFill>
            <a:srgbClr val="1B1B1B"/>
          </a:solidFill>
          <a:ln/>
        </p:spPr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5597" y="1625203"/>
            <a:ext cx="3821906" cy="2157413"/>
          </a:xfrm>
          <a:prstGeom prst="rect">
            <a:avLst/>
          </a:prstGeom>
        </p:spPr>
      </p:pic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375" y="1700213"/>
            <a:ext cx="3378994" cy="1978819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4789884" y="1307306"/>
            <a:ext cx="268962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3" b="1" dirty="0">
                <a:solidFill>
                  <a:srgbClr val="CACAC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Temporal Persistence (Tracking)</a:t>
            </a:r>
            <a:endParaRPr lang="en-US" sz="135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457200" y="1307306"/>
            <a:ext cx="258246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77" b="1" dirty="0">
                <a:solidFill>
                  <a:srgbClr val="B7B7B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Spatial Recognition (Detection)</a:t>
            </a:r>
            <a:endParaRPr lang="en-US" sz="147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86300" y="171450"/>
            <a:ext cx="4296966" cy="1042988"/>
          </a:xfrm>
          <a:prstGeom prst="rect">
            <a:avLst/>
          </a:prstGeom>
        </p:spPr>
      </p:pic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11816" y="235744"/>
            <a:ext cx="103584" cy="103584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5738" y="246459"/>
            <a:ext cx="107156" cy="103584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8811816" y="60722"/>
            <a:ext cx="157163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18" dirty="0">
                <a:solidFill>
                  <a:srgbClr val="59595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&lt;Ses</a:t>
            </a:r>
            <a:endParaRPr lang="en-US" sz="51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8486775" y="60722"/>
            <a:ext cx="289322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70" dirty="0">
                <a:solidFill>
                  <a:srgbClr val="4F4F4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LATENCY:</a:t>
            </a:r>
            <a:endParaRPr lang="en-US" sz="4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746522" y="53578"/>
            <a:ext cx="22860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58" dirty="0">
                <a:solidFill>
                  <a:srgbClr val="3E534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PNLENE</a:t>
            </a:r>
            <a:endParaRPr lang="en-US" sz="45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200025" y="53578"/>
            <a:ext cx="507206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56" dirty="0">
                <a:solidFill>
                  <a:srgbClr val="49494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SYSTEM STATUS:</a:t>
            </a:r>
            <a:endParaRPr lang="en-US" sz="45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1444" y="78581"/>
            <a:ext cx="46434" cy="46434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8022431" y="307181"/>
            <a:ext cx="703659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68" dirty="0">
                <a:solidFill>
                  <a:srgbClr val="54545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DATA FL0W:1.2Gbps</a:t>
            </a:r>
            <a:endParaRPr lang="en-US" sz="56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6"/>
          <p:cNvSpPr/>
          <p:nvPr/>
        </p:nvSpPr>
        <p:spPr>
          <a:xfrm>
            <a:off x="8640366" y="225028"/>
            <a:ext cx="89297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63" dirty="0">
                <a:solidFill>
                  <a:srgbClr val="63636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66</a:t>
            </a:r>
            <a:endParaRPr lang="en-US" sz="56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17"/>
          <p:cNvSpPr/>
          <p:nvPr/>
        </p:nvSpPr>
        <p:spPr>
          <a:xfrm>
            <a:off x="8461772" y="228600"/>
            <a:ext cx="12501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529" dirty="0">
                <a:solidFill>
                  <a:srgbClr val="56565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FPS</a:t>
            </a:r>
            <a:endParaRPr lang="en-US" sz="52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8"/>
          <p:cNvSpPr/>
          <p:nvPr/>
        </p:nvSpPr>
        <p:spPr>
          <a:xfrm>
            <a:off x="428625" y="371475"/>
            <a:ext cx="3907631" cy="7108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630" b="1" dirty="0">
                <a:solidFill>
                  <a:srgbClr val="DDDDD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From Spatial Recognition</a:t>
            </a:r>
            <a:endParaRPr lang="en-US" sz="2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630" b="1" dirty="0">
                <a:solidFill>
                  <a:srgbClr val="DDDDD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to Temporal Persistence</a:t>
            </a:r>
            <a:endParaRPr lang="en-US" sz="2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460282" y="4758095"/>
            <a:ext cx="328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72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47059"/>
            <a:ext cx="9144000" cy="9644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33224"/>
            <a:ext cx="9144000" cy="5328954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5825728" y="3668316"/>
            <a:ext cx="2946797" cy="842963"/>
          </a:xfrm>
          <a:prstGeom prst="rect">
            <a:avLst/>
          </a:prstGeom>
          <a:solidFill>
            <a:srgbClr val="1F252A"/>
          </a:solidFill>
          <a:ln/>
        </p:spPr>
      </p:sp>
      <p:sp>
        <p:nvSpPr>
          <p:cNvPr id="7" name="Text 1"/>
          <p:cNvSpPr/>
          <p:nvPr/>
        </p:nvSpPr>
        <p:spPr>
          <a:xfrm>
            <a:off x="5936456" y="3764756"/>
            <a:ext cx="2514600" cy="6143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4" b="1" dirty="0">
                <a:solidFill>
                  <a:srgbClr val="A0A4A8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Utilizes yolov8n.pt (the Nano variant)</a:t>
            </a:r>
            <a:endParaRPr lang="en-US" sz="12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204" b="1" dirty="0">
                <a:solidFill>
                  <a:srgbClr val="A0A4A8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to maximize FPS. Prioritizes real-time</a:t>
            </a:r>
            <a:endParaRPr lang="en-US" sz="12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204" b="1" dirty="0">
                <a:solidFill>
                  <a:srgbClr val="A0A4A8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speed while sacrificing a minimal</a:t>
            </a:r>
            <a:endParaRPr lang="en-US" sz="12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204" b="1" dirty="0">
                <a:solidFill>
                  <a:srgbClr val="A0A4A8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fraction of absolute precision.</a:t>
            </a:r>
            <a:endParaRPr lang="en-US" sz="12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2"/>
          <p:cNvSpPr/>
          <p:nvPr/>
        </p:nvSpPr>
        <p:spPr>
          <a:xfrm>
            <a:off x="5840016" y="3421856"/>
            <a:ext cx="2914650" cy="239316"/>
          </a:xfrm>
          <a:prstGeom prst="rect">
            <a:avLst/>
          </a:prstGeom>
          <a:solidFill>
            <a:srgbClr val="E54F4B"/>
          </a:solidFill>
          <a:ln/>
        </p:spPr>
      </p:sp>
      <p:sp>
        <p:nvSpPr>
          <p:cNvPr id="9" name="Text 3"/>
          <p:cNvSpPr/>
          <p:nvPr/>
        </p:nvSpPr>
        <p:spPr>
          <a:xfrm>
            <a:off x="5936456" y="3457575"/>
            <a:ext cx="139303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46" b="1" dirty="0">
                <a:solidFill>
                  <a:srgbClr val="87282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Model Optimization</a:t>
            </a:r>
            <a:endParaRPr lang="en-US" sz="124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4"/>
          <p:cNvSpPr/>
          <p:nvPr/>
        </p:nvSpPr>
        <p:spPr>
          <a:xfrm>
            <a:off x="5829300" y="2461022"/>
            <a:ext cx="2939653" cy="842963"/>
          </a:xfrm>
          <a:prstGeom prst="rect">
            <a:avLst/>
          </a:prstGeom>
          <a:solidFill>
            <a:srgbClr val="1F252A"/>
          </a:solidFill>
          <a:ln/>
        </p:spPr>
      </p:sp>
      <p:sp>
        <p:nvSpPr>
          <p:cNvPr id="11" name="Shape 5"/>
          <p:cNvSpPr/>
          <p:nvPr/>
        </p:nvSpPr>
        <p:spPr>
          <a:xfrm>
            <a:off x="5836444" y="2225278"/>
            <a:ext cx="2918222" cy="232172"/>
          </a:xfrm>
          <a:prstGeom prst="rect">
            <a:avLst/>
          </a:prstGeom>
          <a:solidFill>
            <a:srgbClr val="F5D141"/>
          </a:solidFill>
          <a:ln/>
        </p:spPr>
      </p:sp>
      <p:sp>
        <p:nvSpPr>
          <p:cNvPr id="12" name="Text 6"/>
          <p:cNvSpPr/>
          <p:nvPr/>
        </p:nvSpPr>
        <p:spPr>
          <a:xfrm>
            <a:off x="5936456" y="2253853"/>
            <a:ext cx="101084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12" b="1" dirty="0">
                <a:solidFill>
                  <a:srgbClr val="796028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Grid Division</a:t>
            </a:r>
            <a:endParaRPr lang="en-US" sz="121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5940028" y="2561034"/>
            <a:ext cx="2768203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52" b="1" dirty="0">
                <a:solidFill>
                  <a:srgbClr val="A3A8A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Divides images into cells; if an object's</a:t>
            </a:r>
            <a:endParaRPr lang="en-US" sz="125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252" b="1" dirty="0">
                <a:solidFill>
                  <a:srgbClr val="A3A8A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center falls in a cell, that cell is fully</a:t>
            </a:r>
            <a:endParaRPr lang="en-US" sz="125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252" b="1" dirty="0">
                <a:solidFill>
                  <a:srgbClr val="A3A8A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responsible for the detection.</a:t>
            </a:r>
            <a:endParaRPr lang="en-US" sz="125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5832872" y="1264444"/>
            <a:ext cx="2939653" cy="832247"/>
          </a:xfrm>
          <a:prstGeom prst="rect">
            <a:avLst/>
          </a:prstGeom>
          <a:solidFill>
            <a:srgbClr val="1E252B"/>
          </a:solidFill>
          <a:ln/>
        </p:spPr>
      </p:sp>
      <p:sp>
        <p:nvSpPr>
          <p:cNvPr id="15" name="Shape 9"/>
          <p:cNvSpPr/>
          <p:nvPr/>
        </p:nvSpPr>
        <p:spPr>
          <a:xfrm>
            <a:off x="5840016" y="1021556"/>
            <a:ext cx="2918222" cy="232172"/>
          </a:xfrm>
          <a:prstGeom prst="rect">
            <a:avLst/>
          </a:prstGeom>
          <a:solidFill>
            <a:srgbClr val="46C6CE"/>
          </a:solidFill>
          <a:ln/>
        </p:spPr>
      </p:sp>
      <p:sp>
        <p:nvSpPr>
          <p:cNvPr id="16" name="Text 10"/>
          <p:cNvSpPr/>
          <p:nvPr/>
        </p:nvSpPr>
        <p:spPr>
          <a:xfrm>
            <a:off x="5940028" y="1053703"/>
            <a:ext cx="92868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93" b="1" dirty="0">
                <a:solidFill>
                  <a:srgbClr val="296A7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Unified Pass</a:t>
            </a:r>
            <a:endParaRPr lang="en-US" sz="119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5940028" y="1357313"/>
            <a:ext cx="2625328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2" b="1" dirty="0">
                <a:solidFill>
                  <a:srgbClr val="A0A3A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Processes entire images in a single</a:t>
            </a:r>
            <a:endParaRPr lang="en-US" sz="116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162" b="1" dirty="0">
                <a:solidFill>
                  <a:srgbClr val="A0A3A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forward pass through the neural network,</a:t>
            </a:r>
            <a:endParaRPr lang="en-US" sz="116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162" b="1" dirty="0">
                <a:solidFill>
                  <a:srgbClr val="A0A3A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bypassing slow multi-stage pipelines.</a:t>
            </a:r>
            <a:endParaRPr lang="en-US" sz="116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1153716" y="4900613"/>
            <a:ext cx="707231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74" dirty="0">
                <a:solidFill>
                  <a:srgbClr val="494E5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DATA FLDN:1.4 6bps</a:t>
            </a:r>
            <a:endParaRPr lang="en-US" sz="57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167878" y="4900613"/>
            <a:ext cx="789384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7" dirty="0">
                <a:solidFill>
                  <a:srgbClr val="464B4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SYSTEM STATUS:ONLZNE</a:t>
            </a:r>
            <a:endParaRPr lang="en-US" sz="48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2006" y="3789759"/>
            <a:ext cx="89297" cy="1785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25678" y="3078956"/>
            <a:ext cx="164306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63" dirty="0">
                <a:solidFill>
                  <a:srgbClr val="83868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8.95</a:t>
            </a:r>
            <a:endParaRPr lang="en-US" sz="56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4939903" y="2096691"/>
            <a:ext cx="58221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67" b="1" dirty="0">
                <a:solidFill>
                  <a:srgbClr val="80848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x, y, w, h, c</a:t>
            </a:r>
            <a:endParaRPr lang="en-US" sz="9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4689872" y="1860947"/>
            <a:ext cx="80367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7" b="1" dirty="0">
                <a:solidFill>
                  <a:srgbClr val="999C9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BOUNDING BOX</a:t>
            </a:r>
            <a:endParaRPr lang="en-US" sz="84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8297" y="2032397"/>
            <a:ext cx="1353741" cy="1739503"/>
          </a:xfrm>
          <a:prstGeom prst="rect">
            <a:avLst/>
          </a:prstGeom>
        </p:spPr>
      </p:pic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7738" y="3189684"/>
            <a:ext cx="35719" cy="664369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1309" y="3296841"/>
            <a:ext cx="21431" cy="546497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4761309" y="3082528"/>
            <a:ext cx="628650" cy="89297"/>
          </a:xfrm>
          <a:prstGeom prst="rect">
            <a:avLst/>
          </a:prstGeom>
          <a:solidFill>
            <a:srgbClr val="E1504C"/>
          </a:solidFill>
          <a:ln/>
        </p:spPr>
      </p:sp>
      <p:sp>
        <p:nvSpPr>
          <p:cNvPr id="28" name="Text 18"/>
          <p:cNvSpPr/>
          <p:nvPr/>
        </p:nvSpPr>
        <p:spPr>
          <a:xfrm>
            <a:off x="4818459" y="3743325"/>
            <a:ext cx="160734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563" dirty="0">
                <a:solidFill>
                  <a:srgbClr val="77797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0.03</a:t>
            </a:r>
            <a:endParaRPr lang="en-US" sz="56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9"/>
          <p:cNvSpPr/>
          <p:nvPr/>
        </p:nvSpPr>
        <p:spPr>
          <a:xfrm>
            <a:off x="4818459" y="3632597"/>
            <a:ext cx="157163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563" dirty="0">
                <a:solidFill>
                  <a:srgbClr val="7A7E8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8.05</a:t>
            </a:r>
            <a:endParaRPr lang="en-US" sz="56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0"/>
          <p:cNvSpPr/>
          <p:nvPr/>
        </p:nvSpPr>
        <p:spPr>
          <a:xfrm>
            <a:off x="4496991" y="3636169"/>
            <a:ext cx="22860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18" dirty="0">
                <a:solidFill>
                  <a:srgbClr val="71767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Pezson</a:t>
            </a:r>
            <a:endParaRPr lang="en-US" sz="51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1"/>
          <p:cNvSpPr/>
          <p:nvPr/>
        </p:nvSpPr>
        <p:spPr>
          <a:xfrm>
            <a:off x="4814888" y="3525441"/>
            <a:ext cx="160734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532" dirty="0">
                <a:solidFill>
                  <a:srgbClr val="7C818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0.85</a:t>
            </a:r>
            <a:endParaRPr lang="en-US" sz="53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4607719" y="3529013"/>
            <a:ext cx="117872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495" dirty="0">
                <a:solidFill>
                  <a:srgbClr val="787C8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Caz</a:t>
            </a:r>
            <a:endParaRPr lang="en-US" sz="4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3"/>
          <p:cNvSpPr/>
          <p:nvPr/>
        </p:nvSpPr>
        <p:spPr>
          <a:xfrm>
            <a:off x="4818459" y="3414713"/>
            <a:ext cx="157163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563" dirty="0">
                <a:solidFill>
                  <a:srgbClr val="7A7F8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0.01</a:t>
            </a:r>
            <a:endParaRPr lang="en-US" sz="56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4"/>
          <p:cNvSpPr/>
          <p:nvPr/>
        </p:nvSpPr>
        <p:spPr>
          <a:xfrm>
            <a:off x="4532709" y="3414713"/>
            <a:ext cx="19288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37" dirty="0">
                <a:solidFill>
                  <a:srgbClr val="6D727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Tzuck</a:t>
            </a:r>
            <a:endParaRPr lang="en-US" sz="53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4818459" y="3303984"/>
            <a:ext cx="160734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63" dirty="0">
                <a:solidFill>
                  <a:srgbClr val="7B7E8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0.01</a:t>
            </a:r>
            <a:endParaRPr lang="en-US" sz="56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6"/>
          <p:cNvSpPr/>
          <p:nvPr/>
        </p:nvSpPr>
        <p:spPr>
          <a:xfrm>
            <a:off x="4532709" y="3307556"/>
            <a:ext cx="19288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563" dirty="0">
                <a:solidFill>
                  <a:srgbClr val="70767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Truck</a:t>
            </a:r>
            <a:endParaRPr lang="en-US" sz="56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27"/>
          <p:cNvSpPr/>
          <p:nvPr/>
        </p:nvSpPr>
        <p:spPr>
          <a:xfrm>
            <a:off x="4818459" y="3196828"/>
            <a:ext cx="164306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63" dirty="0">
                <a:solidFill>
                  <a:srgbClr val="787D8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0.82</a:t>
            </a:r>
            <a:endParaRPr lang="en-US" sz="56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28"/>
          <p:cNvSpPr/>
          <p:nvPr/>
        </p:nvSpPr>
        <p:spPr>
          <a:xfrm>
            <a:off x="4493419" y="3200400"/>
            <a:ext cx="232172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551" dirty="0">
                <a:solidFill>
                  <a:srgbClr val="73757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Person</a:t>
            </a:r>
            <a:endParaRPr lang="en-US" sz="55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29"/>
          <p:cNvSpPr/>
          <p:nvPr/>
        </p:nvSpPr>
        <p:spPr>
          <a:xfrm>
            <a:off x="4607719" y="3089672"/>
            <a:ext cx="117872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03" dirty="0">
                <a:solidFill>
                  <a:srgbClr val="74787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Caz</a:t>
            </a:r>
            <a:endParaRPr lang="en-US" sz="50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0"/>
          <p:cNvSpPr/>
          <p:nvPr/>
        </p:nvSpPr>
        <p:spPr>
          <a:xfrm>
            <a:off x="4532709" y="2886075"/>
            <a:ext cx="112156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86" b="1" dirty="0">
                <a:solidFill>
                  <a:srgbClr val="92969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CLASS PROBABILITY</a:t>
            </a:r>
            <a:endParaRPr lang="en-US" sz="88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1"/>
          <p:cNvSpPr/>
          <p:nvPr/>
        </p:nvSpPr>
        <p:spPr>
          <a:xfrm>
            <a:off x="3575447" y="1928813"/>
            <a:ext cx="8072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7" dirty="0">
                <a:solidFill>
                  <a:srgbClr val="8F939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TENSOR BLOCK</a:t>
            </a:r>
            <a:endParaRPr lang="en-US" sz="84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2"/>
          <p:cNvSpPr/>
          <p:nvPr/>
        </p:nvSpPr>
        <p:spPr>
          <a:xfrm>
            <a:off x="8565356" y="4968478"/>
            <a:ext cx="5143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endParaRPr lang="en-US" sz="68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33"/>
          <p:cNvSpPr/>
          <p:nvPr/>
        </p:nvSpPr>
        <p:spPr>
          <a:xfrm>
            <a:off x="378619" y="375047"/>
            <a:ext cx="5247084" cy="3607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436" b="1" dirty="0">
                <a:solidFill>
                  <a:srgbClr val="B8BBB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Eyes: YOLOv8 Spatial Architecture</a:t>
            </a:r>
            <a:endParaRPr lang="en-US" sz="243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34"/>
          <p:cNvSpPr/>
          <p:nvPr/>
        </p:nvSpPr>
        <p:spPr>
          <a:xfrm>
            <a:off x="8229600" y="150019"/>
            <a:ext cx="7429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7" dirty="0">
                <a:solidFill>
                  <a:srgbClr val="454A4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BATA FL0N:1.46bps</a:t>
            </a:r>
            <a:endParaRPr lang="en-US" sz="62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35"/>
          <p:cNvSpPr/>
          <p:nvPr/>
        </p:nvSpPr>
        <p:spPr>
          <a:xfrm>
            <a:off x="178594" y="146447"/>
            <a:ext cx="83224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43" dirty="0">
                <a:solidFill>
                  <a:srgbClr val="41464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SYSTEN STATUS:ONLINE</a:t>
            </a:r>
            <a:endParaRPr lang="en-US" sz="54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460282" y="4758095"/>
            <a:ext cx="328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0557"/>
            <a:ext cx="9144000" cy="526839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8959" y="4804172"/>
            <a:ext cx="96441" cy="10001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594" y="4807744"/>
            <a:ext cx="96441" cy="96441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6118622" y="3457575"/>
            <a:ext cx="2653903" cy="1092994"/>
          </a:xfrm>
          <a:prstGeom prst="rect">
            <a:avLst/>
          </a:prstGeom>
          <a:solidFill>
            <a:srgbClr val="1D1E1D"/>
          </a:solidFill>
          <a:ln/>
        </p:spPr>
      </p:sp>
      <p:sp>
        <p:nvSpPr>
          <p:cNvPr id="7" name="Text 1"/>
          <p:cNvSpPr/>
          <p:nvPr/>
        </p:nvSpPr>
        <p:spPr>
          <a:xfrm>
            <a:off x="6236494" y="3575447"/>
            <a:ext cx="2214563" cy="8286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7" b="1" dirty="0">
                <a:solidFill>
                  <a:srgbClr val="9D9D9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Extracts a deep learning</a:t>
            </a:r>
            <a:endParaRPr lang="en-US" sz="127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277" b="1" dirty="0">
                <a:solidFill>
                  <a:srgbClr val="9D9D9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appearance descriptor (using</a:t>
            </a:r>
            <a:endParaRPr lang="en-US" sz="127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277" b="1" dirty="0">
                <a:solidFill>
                  <a:srgbClr val="9D9D9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MobileNet) for each box to</a:t>
            </a:r>
            <a:endParaRPr lang="en-US" sz="127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277" b="1" dirty="0">
                <a:solidFill>
                  <a:srgbClr val="9D9D9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prevent identity switches when</a:t>
            </a:r>
            <a:endParaRPr lang="en-US" sz="127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277" b="1" dirty="0">
                <a:solidFill>
                  <a:srgbClr val="9D9D9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objects overlap.</a:t>
            </a:r>
            <a:endParaRPr lang="en-US" sz="127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2"/>
          <p:cNvSpPr/>
          <p:nvPr/>
        </p:nvSpPr>
        <p:spPr>
          <a:xfrm>
            <a:off x="6125766" y="3203972"/>
            <a:ext cx="2636044" cy="246459"/>
          </a:xfrm>
          <a:prstGeom prst="rect">
            <a:avLst/>
          </a:prstGeom>
          <a:solidFill>
            <a:srgbClr val="50C1C8"/>
          </a:solidFill>
          <a:ln/>
        </p:spPr>
      </p:sp>
      <p:sp>
        <p:nvSpPr>
          <p:cNvPr id="9" name="Text 3"/>
          <p:cNvSpPr/>
          <p:nvPr/>
        </p:nvSpPr>
        <p:spPr>
          <a:xfrm>
            <a:off x="6236494" y="3236119"/>
            <a:ext cx="1707356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8" b="1" dirty="0">
                <a:solidFill>
                  <a:srgbClr val="27636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Visual Fingerprinting</a:t>
            </a:r>
            <a:endParaRPr lang="en-US" sz="130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4"/>
          <p:cNvSpPr/>
          <p:nvPr/>
        </p:nvSpPr>
        <p:spPr>
          <a:xfrm>
            <a:off x="9083278" y="1971675"/>
            <a:ext cx="60722" cy="382191"/>
          </a:xfrm>
          <a:prstGeom prst="rect">
            <a:avLst/>
          </a:prstGeom>
          <a:solidFill>
            <a:srgbClr val="1D1D1C"/>
          </a:solidFill>
          <a:ln/>
        </p:spPr>
      </p:sp>
      <p:sp>
        <p:nvSpPr>
          <p:cNvPr id="11" name="Shape 5"/>
          <p:cNvSpPr/>
          <p:nvPr/>
        </p:nvSpPr>
        <p:spPr>
          <a:xfrm>
            <a:off x="6118622" y="2185988"/>
            <a:ext cx="2653903" cy="889397"/>
          </a:xfrm>
          <a:prstGeom prst="rect">
            <a:avLst/>
          </a:prstGeom>
          <a:solidFill>
            <a:srgbClr val="1D1D1D"/>
          </a:solidFill>
          <a:ln/>
        </p:spPr>
      </p:sp>
      <p:sp>
        <p:nvSpPr>
          <p:cNvPr id="12" name="Text 6"/>
          <p:cNvSpPr/>
          <p:nvPr/>
        </p:nvSpPr>
        <p:spPr>
          <a:xfrm>
            <a:off x="6232922" y="2311003"/>
            <a:ext cx="2421731" cy="5036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36" b="1" dirty="0">
                <a:solidFill>
                  <a:srgbClr val="A3A3A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Uses Kalman filters to predict</a:t>
            </a:r>
            <a:endParaRPr lang="en-US" sz="133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36" b="1" dirty="0">
                <a:solidFill>
                  <a:srgbClr val="A3A3A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future mathematical</a:t>
            </a:r>
            <a:endParaRPr lang="en-US" sz="133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36" b="1" dirty="0">
                <a:solidFill>
                  <a:srgbClr val="A3A3A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positions of existing tracks.</a:t>
            </a:r>
            <a:endParaRPr lang="en-US" sz="133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6129338" y="1935956"/>
            <a:ext cx="2625328" cy="242888"/>
          </a:xfrm>
          <a:prstGeom prst="rect">
            <a:avLst/>
          </a:prstGeom>
          <a:solidFill>
            <a:srgbClr val="F1CD43"/>
          </a:solidFill>
          <a:ln/>
        </p:spPr>
      </p:sp>
      <p:sp>
        <p:nvSpPr>
          <p:cNvPr id="14" name="Text 8"/>
          <p:cNvSpPr/>
          <p:nvPr/>
        </p:nvSpPr>
        <p:spPr>
          <a:xfrm>
            <a:off x="6236494" y="1964531"/>
            <a:ext cx="137874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13" b="1" dirty="0">
                <a:solidFill>
                  <a:srgbClr val="7F632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Motion Prediction</a:t>
            </a:r>
            <a:endParaRPr lang="en-US" sz="13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472" y="1171575"/>
            <a:ext cx="5482828" cy="34218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46497" y="3011091"/>
            <a:ext cx="896541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 smtClean="0">
                <a:solidFill>
                  <a:srgbClr val="A8A8A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System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b="1" dirty="0">
                <a:solidFill>
                  <a:srgbClr val="A8A8A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State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3122" y="171450"/>
            <a:ext cx="1143000" cy="978694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8959" y="235744"/>
            <a:ext cx="96441" cy="103584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734" y="246459"/>
            <a:ext cx="128588" cy="103584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8561784" y="4968478"/>
            <a:ext cx="52149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endParaRPr lang="en-US" sz="70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8236744" y="4986338"/>
            <a:ext cx="160734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01" dirty="0">
                <a:solidFill>
                  <a:srgbClr val="696868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DATA</a:t>
            </a:r>
            <a:endParaRPr lang="en-US" sz="5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692944" y="4986338"/>
            <a:ext cx="246459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32" dirty="0">
                <a:solidFill>
                  <a:srgbClr val="475D4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ONLIHE</a:t>
            </a:r>
            <a:endParaRPr lang="en-US" sz="53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128588" y="4986338"/>
            <a:ext cx="535781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03" dirty="0">
                <a:solidFill>
                  <a:srgbClr val="5F5F5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SYSTEN STATUS:</a:t>
            </a:r>
            <a:endParaRPr lang="en-US" sz="50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6122194" y="1300163"/>
            <a:ext cx="234672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30" b="1" dirty="0">
                <a:solidFill>
                  <a:srgbClr val="AFAFA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DeepSORT Technical Pillars</a:t>
            </a:r>
            <a:endParaRPr lang="en-US" sz="15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3875484" y="3811191"/>
            <a:ext cx="1839516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3A3A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Kalman Filters +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A3A3A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Hungarian Algorithm +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A3A3A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Visual Embeddings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2053828" y="3864769"/>
            <a:ext cx="1393031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9D9D9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Convolutional</a:t>
            </a:r>
            <a:endParaRPr lang="en-US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b="1" dirty="0" smtClean="0">
                <a:solidFill>
                  <a:srgbClr val="9D9D9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Neural</a:t>
            </a:r>
            <a:endParaRPr lang="en-US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b="1" dirty="0" smtClean="0">
                <a:solidFill>
                  <a:srgbClr val="9D9D9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Network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550069" y="3896916"/>
            <a:ext cx="892969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 smtClean="0">
                <a:solidFill>
                  <a:srgbClr val="B0B0A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Core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b="1" dirty="0" smtClean="0">
                <a:solidFill>
                  <a:srgbClr val="B0B0A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Mechanism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4004072" y="3028950"/>
            <a:ext cx="1589484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F9F9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Stateful (Maintains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9F9F9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memory)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9"/>
          <p:cNvSpPr/>
          <p:nvPr/>
        </p:nvSpPr>
        <p:spPr>
          <a:xfrm>
            <a:off x="1907381" y="3028950"/>
            <a:ext cx="1675209" cy="4071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0A09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Stateless (Frame-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A0A09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independent)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0"/>
          <p:cNvSpPr/>
          <p:nvPr/>
        </p:nvSpPr>
        <p:spPr>
          <a:xfrm>
            <a:off x="3996928" y="2150269"/>
            <a:ext cx="1589484" cy="4071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B9B9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Who is it &amp; Where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9B9B9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is it going?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1"/>
          <p:cNvSpPr/>
          <p:nvPr/>
        </p:nvSpPr>
        <p:spPr>
          <a:xfrm>
            <a:off x="2210991" y="2150269"/>
            <a:ext cx="1071563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D9D9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What is it &amp;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b="1" dirty="0">
                <a:solidFill>
                  <a:srgbClr val="9D9D9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Where is it?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546497" y="2132409"/>
            <a:ext cx="8001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9A9A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Primary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b="1" dirty="0">
                <a:solidFill>
                  <a:srgbClr val="A9A9A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Question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3"/>
          <p:cNvSpPr/>
          <p:nvPr/>
        </p:nvSpPr>
        <p:spPr>
          <a:xfrm>
            <a:off x="3854053" y="1446609"/>
            <a:ext cx="1857375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DADA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Tracking (DeepSORT)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4"/>
          <p:cNvSpPr/>
          <p:nvPr/>
        </p:nvSpPr>
        <p:spPr>
          <a:xfrm>
            <a:off x="2666405" y="1439442"/>
            <a:ext cx="75366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1951877" y="1416166"/>
            <a:ext cx="1871662" cy="4895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r>
              <a:rPr lang="en-US" sz="1400" b="1" dirty="0" smtClean="0">
                <a:solidFill>
                  <a:srgbClr val="9F9F9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Detection </a:t>
            </a:r>
            <a:r>
              <a:rPr lang="en-US" sz="1400" b="1" dirty="0">
                <a:solidFill>
                  <a:srgbClr val="9E9E9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(YOLOv8)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6"/>
          <p:cNvSpPr/>
          <p:nvPr/>
        </p:nvSpPr>
        <p:spPr>
          <a:xfrm>
            <a:off x="8022431" y="307181"/>
            <a:ext cx="707231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68" dirty="0">
                <a:solidFill>
                  <a:srgbClr val="58585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DATA FL0K:1.2Gbps</a:t>
            </a:r>
            <a:endParaRPr lang="en-US" sz="56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27"/>
          <p:cNvSpPr/>
          <p:nvPr/>
        </p:nvSpPr>
        <p:spPr>
          <a:xfrm>
            <a:off x="8461772" y="225028"/>
            <a:ext cx="267891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63" dirty="0">
                <a:solidFill>
                  <a:srgbClr val="57575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FPS:60</a:t>
            </a:r>
            <a:endParaRPr lang="en-US" sz="56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28"/>
          <p:cNvSpPr/>
          <p:nvPr/>
        </p:nvSpPr>
        <p:spPr>
          <a:xfrm>
            <a:off x="378619" y="375047"/>
            <a:ext cx="4929188" cy="3679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99" b="1" dirty="0">
                <a:solidFill>
                  <a:srgbClr val="C6C6C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Memory: Introducing DeepSORT</a:t>
            </a:r>
            <a:endParaRPr lang="en-US" sz="23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444" y="78581"/>
            <a:ext cx="46434" cy="46434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8811816" y="57150"/>
            <a:ext cx="160734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29" dirty="0">
                <a:solidFill>
                  <a:srgbClr val="59595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&lt;Ses</a:t>
            </a:r>
            <a:endParaRPr lang="en-US" sz="52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0"/>
          <p:cNvSpPr/>
          <p:nvPr/>
        </p:nvSpPr>
        <p:spPr>
          <a:xfrm>
            <a:off x="8483203" y="60722"/>
            <a:ext cx="292894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1" dirty="0">
                <a:solidFill>
                  <a:srgbClr val="56565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LATENCY:</a:t>
            </a:r>
            <a:endParaRPr lang="en-US" sz="48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1"/>
          <p:cNvSpPr/>
          <p:nvPr/>
        </p:nvSpPr>
        <p:spPr>
          <a:xfrm>
            <a:off x="746522" y="53578"/>
            <a:ext cx="228600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03" dirty="0">
                <a:solidFill>
                  <a:srgbClr val="47564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RNLINE</a:t>
            </a:r>
            <a:endParaRPr lang="en-US" sz="50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32"/>
          <p:cNvSpPr/>
          <p:nvPr/>
        </p:nvSpPr>
        <p:spPr>
          <a:xfrm>
            <a:off x="200025" y="53578"/>
            <a:ext cx="507206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1" dirty="0">
                <a:solidFill>
                  <a:srgbClr val="4A4B4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SYSTEH STATUS:</a:t>
            </a:r>
            <a:endParaRPr lang="en-US" sz="48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460282" y="4758095"/>
            <a:ext cx="328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4779"/>
            <a:ext cx="9144000" cy="535923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" y="150019"/>
            <a:ext cx="8954691" cy="490775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8959" y="235744"/>
            <a:ext cx="100013" cy="10358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738" y="246459"/>
            <a:ext cx="103584" cy="103584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6529388" y="1689497"/>
            <a:ext cx="2243138" cy="1232297"/>
          </a:xfrm>
          <a:prstGeom prst="rect">
            <a:avLst/>
          </a:prstGeom>
          <a:solidFill>
            <a:srgbClr val="1E1F1F"/>
          </a:solidFill>
          <a:ln/>
        </p:spPr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2244" y="2803922"/>
            <a:ext cx="2243138" cy="132159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8194" y="2839641"/>
            <a:ext cx="267891" cy="64294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6650831" y="2575322"/>
            <a:ext cx="8572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6" b="1" dirty="0">
                <a:solidFill>
                  <a:srgbClr val="A8A9A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]</a:t>
            </a:r>
            <a:endParaRPr lang="en-US" sz="117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793706" y="2093119"/>
            <a:ext cx="1021556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58" b="1" dirty="0">
                <a:solidFill>
                  <a:srgbClr val="898A8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[x,y, w, h],</a:t>
            </a:r>
            <a:endParaRPr lang="en-US" sz="135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58" b="1" dirty="0">
                <a:solidFill>
                  <a:srgbClr val="898A8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Track ID,</a:t>
            </a:r>
            <a:endParaRPr lang="en-US" sz="135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58" b="1" dirty="0">
                <a:solidFill>
                  <a:srgbClr val="898A8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Class</a:t>
            </a:r>
            <a:endParaRPr lang="en-US" sz="135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657975" y="1778794"/>
            <a:ext cx="180379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5" b="1" dirty="0">
                <a:solidFill>
                  <a:srgbClr val="99999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DeepSORT Output Packet</a:t>
            </a:r>
            <a:endParaRPr lang="en-US" sz="12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668691" y="1960959"/>
            <a:ext cx="8215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76" dirty="0">
                <a:solidFill>
                  <a:srgbClr val="A5A6A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[</a:t>
            </a:r>
            <a:endParaRPr lang="en-US" sz="117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6529388" y="1403747"/>
            <a:ext cx="2228850" cy="267891"/>
          </a:xfrm>
          <a:prstGeom prst="rect">
            <a:avLst/>
          </a:prstGeom>
          <a:solidFill>
            <a:srgbClr val="4EBFC6"/>
          </a:solidFill>
          <a:ln/>
        </p:spPr>
      </p:sp>
      <p:sp>
        <p:nvSpPr>
          <p:cNvPr id="14" name="Text 6"/>
          <p:cNvSpPr/>
          <p:nvPr/>
        </p:nvSpPr>
        <p:spPr>
          <a:xfrm>
            <a:off x="6657975" y="1450181"/>
            <a:ext cx="1300163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6" b="1" dirty="0">
                <a:solidFill>
                  <a:srgbClr val="245D6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DeepSORT Memory</a:t>
            </a:r>
            <a:endParaRPr lang="en-US" sz="115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68341" y="1368028"/>
            <a:ext cx="2650331" cy="1403747"/>
          </a:xfrm>
          <a:prstGeom prst="rect">
            <a:avLst/>
          </a:prstGeom>
        </p:spPr>
      </p:pic>
      <p:sp>
        <p:nvSpPr>
          <p:cNvPr id="16" name="Shape 7"/>
          <p:cNvSpPr/>
          <p:nvPr/>
        </p:nvSpPr>
        <p:spPr>
          <a:xfrm>
            <a:off x="371475" y="1671638"/>
            <a:ext cx="2246709" cy="1268016"/>
          </a:xfrm>
          <a:prstGeom prst="rect">
            <a:avLst/>
          </a:prstGeom>
          <a:solidFill>
            <a:srgbClr val="1F1F1D"/>
          </a:solidFill>
          <a:ln/>
        </p:spPr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2191" y="2807494"/>
            <a:ext cx="2232422" cy="125016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507206" y="2575322"/>
            <a:ext cx="7858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76" b="1" dirty="0">
                <a:solidFill>
                  <a:srgbClr val="A4A49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]</a:t>
            </a:r>
            <a:endParaRPr lang="en-US" sz="117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9"/>
          <p:cNvSpPr/>
          <p:nvPr/>
        </p:nvSpPr>
        <p:spPr>
          <a:xfrm>
            <a:off x="650081" y="2096691"/>
            <a:ext cx="1042988" cy="4893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22" b="1" dirty="0">
                <a:solidFill>
                  <a:srgbClr val="85868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[x,y, w, h].</a:t>
            </a:r>
            <a:endParaRPr lang="en-US" sz="132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22" b="1" dirty="0">
                <a:solidFill>
                  <a:srgbClr val="85868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Confidence,</a:t>
            </a:r>
            <a:endParaRPr lang="en-US" sz="132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22" b="1" dirty="0">
                <a:solidFill>
                  <a:srgbClr val="85868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Class</a:t>
            </a:r>
            <a:endParaRPr lang="en-US" sz="132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503634" y="1775222"/>
            <a:ext cx="148232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74" b="1" dirty="0">
                <a:solidFill>
                  <a:srgbClr val="91928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YOLO Output Packet</a:t>
            </a:r>
            <a:endParaRPr lang="en-US" sz="127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521494" y="1950244"/>
            <a:ext cx="8215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4" b="1" dirty="0">
                <a:solidFill>
                  <a:srgbClr val="A2A39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Γ</a:t>
            </a:r>
            <a:endParaRPr lang="en-US" sz="116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503634" y="1446609"/>
            <a:ext cx="1475184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42" b="1" dirty="0">
                <a:solidFill>
                  <a:srgbClr val="7F5F2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YOLOv8 Perception</a:t>
            </a:r>
            <a:endParaRPr lang="en-US" sz="134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378619" y="375047"/>
            <a:ext cx="5790009" cy="3679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464" b="1" dirty="0">
                <a:solidFill>
                  <a:srgbClr val="BEBFB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Synergy: Detection Meets Association</a:t>
            </a:r>
            <a:endParaRPr lang="en-US" sz="246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8643938" y="221456"/>
            <a:ext cx="8572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03" dirty="0">
                <a:solidFill>
                  <a:srgbClr val="5C5C5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$5</a:t>
            </a:r>
            <a:endParaRPr lang="en-US" sz="50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8461772" y="221456"/>
            <a:ext cx="13930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12" dirty="0">
                <a:solidFill>
                  <a:srgbClr val="52525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FPS:</a:t>
            </a:r>
            <a:endParaRPr lang="en-US" sz="51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18959" y="4807744"/>
            <a:ext cx="96441" cy="96441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8594" y="4811316"/>
            <a:ext cx="92869" cy="92869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6811566" y="3879056"/>
            <a:ext cx="1664494" cy="6929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429" b="1" dirty="0">
                <a:solidFill>
                  <a:srgbClr val="99999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New detections are</a:t>
            </a:r>
            <a:endParaRPr lang="en-US" sz="142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29" b="1" dirty="0">
                <a:solidFill>
                  <a:srgbClr val="99999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mapped to existing</a:t>
            </a:r>
            <a:endParaRPr lang="en-US" sz="142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29" b="1" dirty="0">
                <a:solidFill>
                  <a:srgbClr val="99999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tracks, locking in a</a:t>
            </a:r>
            <a:endParaRPr lang="en-US" sz="142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29" b="1" dirty="0">
                <a:solidFill>
                  <a:srgbClr val="99999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Track ID.</a:t>
            </a:r>
            <a:endParaRPr lang="en-US" sz="142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7"/>
          <p:cNvSpPr/>
          <p:nvPr/>
        </p:nvSpPr>
        <p:spPr>
          <a:xfrm>
            <a:off x="4693444" y="3875484"/>
            <a:ext cx="1489472" cy="5250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02" b="1" dirty="0">
                <a:solidFill>
                  <a:srgbClr val="9E9E9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DeepSORT predicts</a:t>
            </a:r>
            <a:endParaRPr lang="en-US" sz="130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02" b="1" dirty="0">
                <a:solidFill>
                  <a:srgbClr val="9E9E9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where known tracks</a:t>
            </a:r>
            <a:endParaRPr lang="en-US" sz="130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02" b="1" dirty="0">
                <a:solidFill>
                  <a:srgbClr val="9E9E9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should be.</a:t>
            </a:r>
            <a:endParaRPr lang="en-US" sz="130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18"/>
          <p:cNvSpPr/>
          <p:nvPr/>
        </p:nvSpPr>
        <p:spPr>
          <a:xfrm>
            <a:off x="2461022" y="3782616"/>
            <a:ext cx="2103834" cy="985838"/>
          </a:xfrm>
          <a:prstGeom prst="rect">
            <a:avLst/>
          </a:prstGeom>
          <a:solidFill>
            <a:srgbClr val="1E1F1E"/>
          </a:solidFill>
          <a:ln/>
        </p:spPr>
      </p:sp>
      <p:sp>
        <p:nvSpPr>
          <p:cNvPr id="31" name="Text 19"/>
          <p:cNvSpPr/>
          <p:nvPr/>
        </p:nvSpPr>
        <p:spPr>
          <a:xfrm>
            <a:off x="2582466" y="3875484"/>
            <a:ext cx="1489472" cy="5214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325" b="1" dirty="0">
                <a:solidFill>
                  <a:srgbClr val="999A9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DeepSORT</a:t>
            </a:r>
            <a:endParaRPr lang="en-US" sz="13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25" b="1" dirty="0">
                <a:solidFill>
                  <a:srgbClr val="999A9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evaluates visual</a:t>
            </a:r>
            <a:endParaRPr lang="en-US" sz="13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25" b="1" dirty="0">
                <a:solidFill>
                  <a:srgbClr val="999A9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embeddings inside</a:t>
            </a:r>
            <a:endParaRPr lang="en-US" sz="13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25" b="1" dirty="0">
                <a:solidFill>
                  <a:srgbClr val="999A9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each box.</a:t>
            </a:r>
            <a:endParaRPr lang="en-US" sz="13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0"/>
          <p:cNvSpPr/>
          <p:nvPr/>
        </p:nvSpPr>
        <p:spPr>
          <a:xfrm>
            <a:off x="6679406" y="3536156"/>
            <a:ext cx="2078831" cy="239316"/>
          </a:xfrm>
          <a:prstGeom prst="rect">
            <a:avLst/>
          </a:prstGeom>
          <a:solidFill>
            <a:srgbClr val="F1CD47"/>
          </a:solidFill>
          <a:ln/>
        </p:spPr>
      </p:sp>
      <p:sp>
        <p:nvSpPr>
          <p:cNvPr id="33" name="Text 21"/>
          <p:cNvSpPr/>
          <p:nvPr/>
        </p:nvSpPr>
        <p:spPr>
          <a:xfrm>
            <a:off x="6807994" y="3575447"/>
            <a:ext cx="162520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87" b="1" dirty="0">
                <a:solidFill>
                  <a:srgbClr val="775A2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4.Data Association</a:t>
            </a:r>
            <a:endParaRPr lang="en-US" sz="138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22"/>
          <p:cNvSpPr/>
          <p:nvPr/>
        </p:nvSpPr>
        <p:spPr>
          <a:xfrm>
            <a:off x="4579144" y="3525441"/>
            <a:ext cx="2082403" cy="253603"/>
          </a:xfrm>
          <a:prstGeom prst="rect">
            <a:avLst/>
          </a:prstGeom>
          <a:solidFill>
            <a:srgbClr val="DB4F4A"/>
          </a:solidFill>
          <a:ln/>
        </p:spPr>
      </p:sp>
      <p:sp>
        <p:nvSpPr>
          <p:cNvPr id="35" name="Text 23"/>
          <p:cNvSpPr/>
          <p:nvPr/>
        </p:nvSpPr>
        <p:spPr>
          <a:xfrm>
            <a:off x="4697016" y="3575447"/>
            <a:ext cx="162520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406" b="1" dirty="0">
                <a:solidFill>
                  <a:srgbClr val="87232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3. State Prediction</a:t>
            </a:r>
            <a:endParaRPr lang="en-US" sz="140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24"/>
          <p:cNvSpPr/>
          <p:nvPr/>
        </p:nvSpPr>
        <p:spPr>
          <a:xfrm>
            <a:off x="2475309" y="3532584"/>
            <a:ext cx="2082403" cy="242888"/>
          </a:xfrm>
          <a:prstGeom prst="rect">
            <a:avLst/>
          </a:prstGeom>
          <a:solidFill>
            <a:srgbClr val="51BFC5"/>
          </a:solidFill>
          <a:ln/>
        </p:spPr>
      </p:sp>
      <p:sp>
        <p:nvSpPr>
          <p:cNvPr id="37" name="Text 25"/>
          <p:cNvSpPr/>
          <p:nvPr/>
        </p:nvSpPr>
        <p:spPr>
          <a:xfrm>
            <a:off x="2582466" y="3575447"/>
            <a:ext cx="179308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33" b="1" dirty="0">
                <a:solidFill>
                  <a:srgbClr val="25616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2.Feature Extraction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26"/>
          <p:cNvSpPr/>
          <p:nvPr/>
        </p:nvSpPr>
        <p:spPr>
          <a:xfrm>
            <a:off x="367903" y="3775472"/>
            <a:ext cx="2089547" cy="992981"/>
          </a:xfrm>
          <a:prstGeom prst="rect">
            <a:avLst/>
          </a:prstGeom>
          <a:solidFill>
            <a:srgbClr val="202020"/>
          </a:solidFill>
          <a:ln/>
        </p:spPr>
      </p:sp>
      <p:sp>
        <p:nvSpPr>
          <p:cNvPr id="39" name="Text 27"/>
          <p:cNvSpPr/>
          <p:nvPr/>
        </p:nvSpPr>
        <p:spPr>
          <a:xfrm>
            <a:off x="485775" y="3875484"/>
            <a:ext cx="1414463" cy="5214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30" b="1" dirty="0">
                <a:solidFill>
                  <a:srgbClr val="95958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YOLO scans frame,</a:t>
            </a:r>
            <a:endParaRPr lang="en-US" sz="13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30" b="1" dirty="0">
                <a:solidFill>
                  <a:srgbClr val="95958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extracts bounding</a:t>
            </a:r>
            <a:endParaRPr lang="en-US" sz="13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30" b="1" dirty="0">
                <a:solidFill>
                  <a:srgbClr val="95958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boxes.</a:t>
            </a:r>
            <a:endParaRPr lang="en-US" sz="13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28"/>
          <p:cNvSpPr/>
          <p:nvPr/>
        </p:nvSpPr>
        <p:spPr>
          <a:xfrm>
            <a:off x="746522" y="3575447"/>
            <a:ext cx="7715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13" b="1" dirty="0">
                <a:solidFill>
                  <a:srgbClr val="7A5B2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Detection</a:t>
            </a:r>
            <a:endParaRPr lang="en-US" sz="13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29"/>
          <p:cNvSpPr/>
          <p:nvPr/>
        </p:nvSpPr>
        <p:spPr>
          <a:xfrm>
            <a:off x="478631" y="3571875"/>
            <a:ext cx="1893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7" b="1" dirty="0">
                <a:solidFill>
                  <a:srgbClr val="75532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1.</a:t>
            </a:r>
            <a:endParaRPr lang="en-US" sz="127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0"/>
          <p:cNvSpPr/>
          <p:nvPr/>
        </p:nvSpPr>
        <p:spPr>
          <a:xfrm>
            <a:off x="3439716" y="2839641"/>
            <a:ext cx="2275284" cy="3536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33" b="1" dirty="0">
                <a:solidFill>
                  <a:srgbClr val="97989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Association Matrix: Distance +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33" b="1" dirty="0">
                <a:solidFill>
                  <a:srgbClr val="97989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Appearance Metrics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31"/>
          <p:cNvSpPr/>
          <p:nvPr/>
        </p:nvSpPr>
        <p:spPr>
          <a:xfrm>
            <a:off x="8229600" y="53578"/>
            <a:ext cx="742950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638" dirty="0">
                <a:solidFill>
                  <a:srgbClr val="45454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BATA FL00:1.36bps</a:t>
            </a:r>
            <a:endParaRPr lang="en-US" sz="6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32"/>
          <p:cNvSpPr/>
          <p:nvPr/>
        </p:nvSpPr>
        <p:spPr>
          <a:xfrm>
            <a:off x="746522" y="53578"/>
            <a:ext cx="23217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18" dirty="0">
                <a:solidFill>
                  <a:srgbClr val="4C584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PNLINE</a:t>
            </a:r>
            <a:endParaRPr lang="en-US" sz="51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33"/>
          <p:cNvSpPr/>
          <p:nvPr/>
        </p:nvSpPr>
        <p:spPr>
          <a:xfrm>
            <a:off x="200025" y="50006"/>
            <a:ext cx="51077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1" dirty="0">
                <a:solidFill>
                  <a:srgbClr val="51525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SYSTEH STATUS:</a:t>
            </a:r>
            <a:endParaRPr lang="en-US" sz="48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1444" y="78581"/>
            <a:ext cx="46434" cy="46434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8561784" y="4972050"/>
            <a:ext cx="52506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endParaRPr lang="en-US" sz="70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35"/>
          <p:cNvSpPr/>
          <p:nvPr/>
        </p:nvSpPr>
        <p:spPr>
          <a:xfrm>
            <a:off x="8236744" y="4989909"/>
            <a:ext cx="160734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92" dirty="0">
                <a:solidFill>
                  <a:srgbClr val="6A6A6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OATA</a:t>
            </a:r>
            <a:endParaRPr lang="en-US" sz="49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36"/>
          <p:cNvSpPr/>
          <p:nvPr/>
        </p:nvSpPr>
        <p:spPr>
          <a:xfrm>
            <a:off x="692944" y="4989909"/>
            <a:ext cx="246459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51635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OKLIHE</a:t>
            </a:r>
            <a:endParaRPr lang="en-US" sz="5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37"/>
          <p:cNvSpPr/>
          <p:nvPr/>
        </p:nvSpPr>
        <p:spPr>
          <a:xfrm>
            <a:off x="128588" y="4986338"/>
            <a:ext cx="535781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03" dirty="0">
                <a:solidFill>
                  <a:srgbClr val="62626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SYSTEN STATUS:</a:t>
            </a:r>
            <a:endParaRPr lang="en-US" sz="50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460282" y="4758095"/>
            <a:ext cx="328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2869"/>
            <a:ext cx="9144000" cy="26789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61347"/>
            <a:ext cx="9144000" cy="8215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6522" y="53578"/>
            <a:ext cx="23217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18" dirty="0">
                <a:solidFill>
                  <a:srgbClr val="4C5A4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PULINE</a:t>
            </a:r>
            <a:endParaRPr lang="en-US" sz="51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44" y="78581"/>
            <a:ext cx="46434" cy="46434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39303"/>
            <a:ext cx="9144000" cy="5004197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8959" y="4807744"/>
            <a:ext cx="96441" cy="96441"/>
          </a:xfrm>
          <a:prstGeom prst="rect">
            <a:avLst/>
          </a:prstGeom>
        </p:spPr>
      </p:pic>
      <p:sp>
        <p:nvSpPr>
          <p:cNvPr id="9" name="Shape 1"/>
          <p:cNvSpPr/>
          <p:nvPr/>
        </p:nvSpPr>
        <p:spPr>
          <a:xfrm>
            <a:off x="360759" y="3521869"/>
            <a:ext cx="8411766" cy="1032272"/>
          </a:xfrm>
          <a:prstGeom prst="rect">
            <a:avLst/>
          </a:prstGeom>
          <a:solidFill>
            <a:srgbClr val="1F211F"/>
          </a:solidFill>
          <a:ln/>
        </p:spPr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7197" y="3789759"/>
            <a:ext cx="71438" cy="75009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3997" y="3793331"/>
            <a:ext cx="71438" cy="71438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2216" y="3789759"/>
            <a:ext cx="75009" cy="75009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6382941" y="3725466"/>
            <a:ext cx="2196703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6" b="1" dirty="0">
                <a:solidFill>
                  <a:srgbClr val="A2A19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Raw mp4v output</a:t>
            </a:r>
            <a:endParaRPr lang="en-US" sz="135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56" b="1" dirty="0">
                <a:solidFill>
                  <a:srgbClr val="A2A19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transcoded via FFmpeg into</a:t>
            </a:r>
            <a:endParaRPr lang="en-US" sz="135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56" b="1" dirty="0">
                <a:solidFill>
                  <a:srgbClr val="A2A19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browser-playable H.264.</a:t>
            </a:r>
            <a:endParaRPr lang="en-US" sz="135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3"/>
          <p:cNvSpPr/>
          <p:nvPr/>
        </p:nvSpPr>
        <p:spPr>
          <a:xfrm>
            <a:off x="817959" y="4236244"/>
            <a:ext cx="133945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endParaRPr lang="en-US" sz="139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4"/>
          <p:cNvSpPr/>
          <p:nvPr/>
        </p:nvSpPr>
        <p:spPr>
          <a:xfrm>
            <a:off x="3632597" y="3718322"/>
            <a:ext cx="1671638" cy="7108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5A59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Tracks dynamically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00" b="1" dirty="0">
                <a:solidFill>
                  <a:srgbClr val="A5A59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verified via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00" b="1" dirty="0">
                <a:solidFill>
                  <a:srgbClr val="A5A59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track.is_confirmed()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00" b="1" dirty="0">
                <a:solidFill>
                  <a:srgbClr val="A5A59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before rendering.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5"/>
          <p:cNvSpPr/>
          <p:nvPr/>
        </p:nvSpPr>
        <p:spPr>
          <a:xfrm>
            <a:off x="775275" y="3820120"/>
            <a:ext cx="2282428" cy="5072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9F9E9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Operates in a while True loop,</a:t>
            </a:r>
            <a:endParaRPr lang="en-US" sz="13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70" b="1" dirty="0">
                <a:solidFill>
                  <a:srgbClr val="9F9E9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processing individual </a:t>
            </a:r>
            <a:r>
              <a:rPr lang="en-US" sz="1370" b="1" dirty="0" smtClean="0">
                <a:solidFill>
                  <a:srgbClr val="9F9E9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frames </a:t>
            </a:r>
          </a:p>
          <a:p>
            <a:r>
              <a:rPr lang="en-US" sz="1370" b="1" dirty="0" smtClean="0">
                <a:solidFill>
                  <a:srgbClr val="9F9E9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chronologically</a:t>
            </a:r>
            <a:r>
              <a:rPr lang="en-US" sz="1370" b="1" dirty="0">
                <a:solidFill>
                  <a:srgbClr val="9F9E9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</a:t>
            </a:r>
          </a:p>
          <a:p>
            <a:pPr marL="0" indent="0" algn="l">
              <a:buNone/>
            </a:pPr>
            <a:endParaRPr lang="en-US" sz="13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6"/>
          <p:cNvSpPr/>
          <p:nvPr/>
        </p:nvSpPr>
        <p:spPr>
          <a:xfrm>
            <a:off x="7501831" y="2140124"/>
            <a:ext cx="1196578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98988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cv2.Videowriter</a:t>
            </a:r>
            <a:endParaRPr lang="en-US" sz="12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270" b="1" dirty="0">
                <a:solidFill>
                  <a:srgbClr val="98988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+ ffmpeg H.264</a:t>
            </a:r>
            <a:endParaRPr lang="en-US" sz="12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7"/>
          <p:cNvSpPr/>
          <p:nvPr/>
        </p:nvSpPr>
        <p:spPr>
          <a:xfrm>
            <a:off x="5548908" y="2150269"/>
            <a:ext cx="1196578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1270" b="1" dirty="0">
                <a:solidFill>
                  <a:srgbClr val="A1A19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cv2.rectangle</a:t>
            </a:r>
            <a:endParaRPr lang="en-US" sz="12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en-US" sz="1270" b="1" dirty="0">
                <a:solidFill>
                  <a:srgbClr val="A1A19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draw_counter</a:t>
            </a:r>
            <a:endParaRPr lang="en-US" sz="12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8"/>
          <p:cNvSpPr/>
          <p:nvPr/>
        </p:nvSpPr>
        <p:spPr>
          <a:xfrm>
            <a:off x="3971925" y="2146697"/>
            <a:ext cx="1271588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70" b="1" dirty="0" smtClean="0">
                <a:solidFill>
                  <a:srgbClr val="9E9E9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tracker.update_</a:t>
            </a:r>
          </a:p>
          <a:p>
            <a:pPr marL="0" indent="0" algn="l">
              <a:buNone/>
            </a:pPr>
            <a:r>
              <a:rPr lang="en-US" sz="1270" b="1" dirty="0" smtClean="0">
                <a:solidFill>
                  <a:srgbClr val="9E9E9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tracks(</a:t>
            </a:r>
            <a:r>
              <a:rPr lang="en-US" sz="1270" b="1" dirty="0" err="1" smtClean="0">
                <a:solidFill>
                  <a:srgbClr val="9E9E9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ds_inputs</a:t>
            </a:r>
            <a:r>
              <a:rPr lang="en-US" sz="1270" b="1" dirty="0">
                <a:solidFill>
                  <a:srgbClr val="9E9E9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)</a:t>
            </a:r>
            <a:endParaRPr lang="en-US" sz="12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9"/>
          <p:cNvSpPr/>
          <p:nvPr/>
        </p:nvSpPr>
        <p:spPr>
          <a:xfrm>
            <a:off x="2357438" y="2160984"/>
            <a:ext cx="9429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74" b="1" dirty="0">
                <a:solidFill>
                  <a:srgbClr val="959588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model(frame)</a:t>
            </a:r>
            <a:endParaRPr lang="en-US" sz="127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464344" y="2164556"/>
            <a:ext cx="126801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74" b="1" dirty="0">
                <a:solidFill>
                  <a:srgbClr val="9F9F9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cv2.VideoCapture</a:t>
            </a:r>
            <a:endParaRPr lang="en-US" sz="127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1"/>
          <p:cNvSpPr/>
          <p:nvPr/>
        </p:nvSpPr>
        <p:spPr>
          <a:xfrm>
            <a:off x="7468791" y="1714500"/>
            <a:ext cx="6858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19" b="1" dirty="0">
                <a:solidFill>
                  <a:srgbClr val="9E9E9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Encoding</a:t>
            </a:r>
            <a:endParaRPr lang="en-US" sz="131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2"/>
          <p:cNvSpPr/>
          <p:nvPr/>
        </p:nvSpPr>
        <p:spPr>
          <a:xfrm>
            <a:off x="5722144" y="1710928"/>
            <a:ext cx="111442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5" b="1" dirty="0">
                <a:solidFill>
                  <a:srgbClr val="AAA9A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HUD Rendering</a:t>
            </a:r>
            <a:endParaRPr lang="en-US" sz="128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3"/>
          <p:cNvSpPr/>
          <p:nvPr/>
        </p:nvSpPr>
        <p:spPr>
          <a:xfrm>
            <a:off x="3943350" y="1714500"/>
            <a:ext cx="12715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87" b="1" dirty="0">
                <a:solidFill>
                  <a:srgbClr val="ADADA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Tracking Update</a:t>
            </a:r>
            <a:endParaRPr lang="en-US" sz="138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4"/>
          <p:cNvSpPr/>
          <p:nvPr/>
        </p:nvSpPr>
        <p:spPr>
          <a:xfrm>
            <a:off x="2239566" y="1714500"/>
            <a:ext cx="76438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6" b="1" dirty="0">
                <a:solidFill>
                  <a:srgbClr val="96958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Detection</a:t>
            </a:r>
            <a:endParaRPr lang="en-US" sz="142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5"/>
          <p:cNvSpPr/>
          <p:nvPr/>
        </p:nvSpPr>
        <p:spPr>
          <a:xfrm>
            <a:off x="464344" y="1718072"/>
            <a:ext cx="764381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87" b="1" dirty="0">
                <a:solidFill>
                  <a:srgbClr val="9A9A9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Ingestion</a:t>
            </a:r>
            <a:endParaRPr lang="en-US" sz="138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18959" y="235744"/>
            <a:ext cx="100013" cy="100013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8561784" y="4972050"/>
            <a:ext cx="52506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endParaRPr lang="en-US" sz="70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7"/>
          <p:cNvSpPr/>
          <p:nvPr/>
        </p:nvSpPr>
        <p:spPr>
          <a:xfrm>
            <a:off x="8236744" y="4989909"/>
            <a:ext cx="160734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7" dirty="0">
                <a:solidFill>
                  <a:srgbClr val="6F6F6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OATA</a:t>
            </a:r>
            <a:endParaRPr lang="en-US" sz="48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8"/>
          <p:cNvSpPr/>
          <p:nvPr/>
        </p:nvSpPr>
        <p:spPr>
          <a:xfrm>
            <a:off x="692944" y="4989909"/>
            <a:ext cx="246459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54645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OKLIHE</a:t>
            </a:r>
            <a:endParaRPr lang="en-US" sz="5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9"/>
          <p:cNvSpPr/>
          <p:nvPr/>
        </p:nvSpPr>
        <p:spPr>
          <a:xfrm>
            <a:off x="442913" y="375047"/>
            <a:ext cx="6079331" cy="3643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60" b="1" dirty="0">
                <a:solidFill>
                  <a:srgbClr val="BFC0B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Executing The Real-Time Pipeline Architecture</a:t>
            </a:r>
            <a:endParaRPr lang="en-US" sz="23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0"/>
          <p:cNvSpPr/>
          <p:nvPr/>
        </p:nvSpPr>
        <p:spPr>
          <a:xfrm>
            <a:off x="8461772" y="225028"/>
            <a:ext cx="267891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63" dirty="0">
                <a:solidFill>
                  <a:srgbClr val="5B5B5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FPS:60</a:t>
            </a:r>
            <a:endParaRPr lang="en-US" sz="56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1"/>
          <p:cNvSpPr/>
          <p:nvPr/>
        </p:nvSpPr>
        <p:spPr>
          <a:xfrm>
            <a:off x="8022431" y="303609"/>
            <a:ext cx="70723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63" dirty="0">
                <a:solidFill>
                  <a:srgbClr val="62635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DATA FL0K:1.2Gops</a:t>
            </a:r>
            <a:endParaRPr lang="en-US" sz="56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8594" y="4811316"/>
            <a:ext cx="89297" cy="92869"/>
          </a:xfrm>
          <a:prstGeom prst="rect">
            <a:avLst/>
          </a:prstGeom>
        </p:spPr>
      </p:pic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5738" y="228600"/>
            <a:ext cx="103584" cy="117872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128588" y="4989909"/>
            <a:ext cx="535781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03" dirty="0">
                <a:solidFill>
                  <a:srgbClr val="66676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SYSTEN STATUS:</a:t>
            </a:r>
            <a:endParaRPr lang="en-US" sz="50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23"/>
          <p:cNvSpPr/>
          <p:nvPr/>
        </p:nvSpPr>
        <p:spPr>
          <a:xfrm>
            <a:off x="196453" y="50006"/>
            <a:ext cx="514350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7" dirty="0">
                <a:solidFill>
                  <a:srgbClr val="54555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SYSTEH STATUS:</a:t>
            </a:r>
            <a:endParaRPr lang="en-US" sz="48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460282" y="4758095"/>
            <a:ext cx="328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10925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2153"/>
            <a:ext cx="9144000" cy="260747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43488"/>
            <a:ext cx="9144000" cy="10001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42875"/>
            <a:ext cx="9144000" cy="506496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565356" y="4975622"/>
            <a:ext cx="517922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endParaRPr lang="en-US" sz="68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1"/>
          <p:cNvSpPr/>
          <p:nvPr/>
        </p:nvSpPr>
        <p:spPr>
          <a:xfrm>
            <a:off x="8236744" y="4986338"/>
            <a:ext cx="164306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95" dirty="0">
                <a:solidFill>
                  <a:srgbClr val="706E6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OATA</a:t>
            </a:r>
            <a:endParaRPr lang="en-US" sz="4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2"/>
          <p:cNvSpPr/>
          <p:nvPr/>
        </p:nvSpPr>
        <p:spPr>
          <a:xfrm>
            <a:off x="692944" y="4986338"/>
            <a:ext cx="250031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55655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OKLIHE</a:t>
            </a:r>
            <a:endParaRPr lang="en-US" sz="5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3"/>
          <p:cNvSpPr/>
          <p:nvPr/>
        </p:nvSpPr>
        <p:spPr>
          <a:xfrm>
            <a:off x="128588" y="4982766"/>
            <a:ext cx="53578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98" dirty="0">
                <a:solidFill>
                  <a:srgbClr val="696A6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SYSTEN STATUS:</a:t>
            </a:r>
            <a:endParaRPr lang="en-US" sz="49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2531" y="4807744"/>
            <a:ext cx="92869" cy="92869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872" y="4764881"/>
            <a:ext cx="267891" cy="196453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022" y="4811316"/>
            <a:ext cx="96441" cy="92869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517922" y="4571244"/>
            <a:ext cx="596860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87" b="1" dirty="0">
                <a:solidFill>
                  <a:srgbClr val="B7B7A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n_init = 3 # Requires 3 consecutive detections to confirm a new track</a:t>
            </a:r>
            <a:endParaRPr lang="en-US" sz="138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444" y="4196953"/>
            <a:ext cx="250031" cy="550069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6150769" y="3386138"/>
            <a:ext cx="2446734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23" b="1" dirty="0">
                <a:solidFill>
                  <a:srgbClr val="AAA99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Threshold for visual feature</a:t>
            </a:r>
            <a:endParaRPr lang="en-US" sz="142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23" b="1" dirty="0">
                <a:solidFill>
                  <a:srgbClr val="AAA99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matching; lower values</a:t>
            </a:r>
            <a:endParaRPr lang="en-US" sz="142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23" b="1" dirty="0">
                <a:solidFill>
                  <a:srgbClr val="AAA99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demand closer appearance</a:t>
            </a:r>
            <a:endParaRPr lang="en-US" sz="142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23" b="1" dirty="0">
                <a:solidFill>
                  <a:srgbClr val="AAA99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matches to retain an ID.</a:t>
            </a:r>
            <a:endParaRPr lang="en-US" sz="142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6"/>
          <p:cNvSpPr/>
          <p:nvPr/>
        </p:nvSpPr>
        <p:spPr>
          <a:xfrm>
            <a:off x="3361134" y="3389709"/>
            <a:ext cx="2450306" cy="7108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485" b="1" dirty="0">
                <a:solidFill>
                  <a:srgbClr val="ABAB9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Frames a track is kept alive in</a:t>
            </a:r>
            <a:endParaRPr lang="en-US" sz="148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85" b="1" dirty="0">
                <a:solidFill>
                  <a:srgbClr val="ABAB9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memory without a detection</a:t>
            </a:r>
            <a:endParaRPr lang="en-US" sz="148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85" b="1" dirty="0">
                <a:solidFill>
                  <a:srgbClr val="ABAB9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before being deleted.Handles</a:t>
            </a:r>
            <a:endParaRPr lang="en-US" sz="148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85" b="1" dirty="0">
                <a:solidFill>
                  <a:srgbClr val="ABAB9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temporary visual occlusion.</a:t>
            </a:r>
            <a:endParaRPr lang="en-US" sz="148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7"/>
          <p:cNvSpPr/>
          <p:nvPr/>
        </p:nvSpPr>
        <p:spPr>
          <a:xfrm>
            <a:off x="471488" y="3386138"/>
            <a:ext cx="2621756" cy="7108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37" b="1" dirty="0">
                <a:solidFill>
                  <a:srgbClr val="AAA99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Discards raw YoLo detections</a:t>
            </a:r>
            <a:endParaRPr lang="en-US" sz="143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37" b="1" dirty="0">
                <a:solidFill>
                  <a:srgbClr val="AAA99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below 40% confidence,</a:t>
            </a:r>
            <a:endParaRPr lang="en-US" sz="143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37" b="1" dirty="0">
                <a:solidFill>
                  <a:srgbClr val="AAA99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drastically reducing background</a:t>
            </a:r>
            <a:endParaRPr lang="en-US" sz="143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37" b="1" dirty="0">
                <a:solidFill>
                  <a:srgbClr val="AAA99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noise and false positives.</a:t>
            </a:r>
            <a:endParaRPr lang="en-US" sz="143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8"/>
          <p:cNvSpPr/>
          <p:nvPr/>
        </p:nvSpPr>
        <p:spPr>
          <a:xfrm>
            <a:off x="6356151" y="3089672"/>
            <a:ext cx="223956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87" b="1" dirty="0">
                <a:solidFill>
                  <a:srgbClr val="7E4E4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max_cosine_distance</a:t>
            </a:r>
            <a:endParaRPr lang="en-US" sz="188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9"/>
          <p:cNvSpPr/>
          <p:nvPr/>
        </p:nvSpPr>
        <p:spPr>
          <a:xfrm>
            <a:off x="4168378" y="3118247"/>
            <a:ext cx="8286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48" b="1" dirty="0">
                <a:solidFill>
                  <a:srgbClr val="61898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max_age</a:t>
            </a:r>
            <a:endParaRPr lang="en-US" sz="164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1135856" y="3078956"/>
            <a:ext cx="131087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71" b="1" dirty="0">
                <a:solidFill>
                  <a:srgbClr val="AA9E7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CONF_THRESH</a:t>
            </a:r>
            <a:endParaRPr lang="en-US" sz="147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5088" y="1239441"/>
            <a:ext cx="1893094" cy="1639491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4028" y="1275159"/>
            <a:ext cx="1835944" cy="1568053"/>
          </a:xfrm>
          <a:prstGeom prst="rect">
            <a:avLst/>
          </a:prstGeom>
        </p:spPr>
      </p:pic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250" y="1278731"/>
            <a:ext cx="1832372" cy="1560909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7075884" y="2018109"/>
            <a:ext cx="610791" cy="3643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995" b="1" dirty="0">
                <a:solidFill>
                  <a:srgbClr val="C0C1B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0.3</a:t>
            </a:r>
            <a:endParaRPr lang="en-US" sz="29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2"/>
          <p:cNvSpPr/>
          <p:nvPr/>
        </p:nvSpPr>
        <p:spPr>
          <a:xfrm>
            <a:off x="4375547" y="2018109"/>
            <a:ext cx="417909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85" b="1" dirty="0">
                <a:solidFill>
                  <a:srgbClr val="C2C4B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30</a:t>
            </a:r>
            <a:endParaRPr lang="en-US" sz="258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3"/>
          <p:cNvSpPr/>
          <p:nvPr/>
        </p:nvSpPr>
        <p:spPr>
          <a:xfrm>
            <a:off x="1382316" y="2018109"/>
            <a:ext cx="817959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956" b="1" dirty="0">
                <a:solidFill>
                  <a:srgbClr val="CACAB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0.40</a:t>
            </a:r>
            <a:endParaRPr lang="en-US" sz="295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22531" y="235744"/>
            <a:ext cx="96441" cy="100013"/>
          </a:xfrm>
          <a:prstGeom prst="rect">
            <a:avLst/>
          </a:prstGeom>
        </p:spPr>
      </p:pic>
      <p:pic>
        <p:nvPicPr>
          <p:cNvPr id="28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5738" y="246459"/>
            <a:ext cx="103584" cy="100013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746522" y="53578"/>
            <a:ext cx="23217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53" dirty="0">
                <a:solidFill>
                  <a:srgbClr val="4F5B4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PHLUNE</a:t>
            </a:r>
            <a:endParaRPr lang="en-US" sz="45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5"/>
          <p:cNvSpPr/>
          <p:nvPr/>
        </p:nvSpPr>
        <p:spPr>
          <a:xfrm>
            <a:off x="196453" y="53578"/>
            <a:ext cx="514350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75" dirty="0">
                <a:solidFill>
                  <a:srgbClr val="51515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SYSTEH STATUS:</a:t>
            </a:r>
            <a:endParaRPr lang="en-US" sz="4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1444" y="78581"/>
            <a:ext cx="46434" cy="46434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8022431" y="307181"/>
            <a:ext cx="703659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63" dirty="0">
                <a:solidFill>
                  <a:srgbClr val="5C5E5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DATAFL0K:1.&amp;6ops</a:t>
            </a:r>
            <a:endParaRPr lang="en-US" sz="56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7"/>
          <p:cNvSpPr/>
          <p:nvPr/>
        </p:nvSpPr>
        <p:spPr>
          <a:xfrm>
            <a:off x="432197" y="375047"/>
            <a:ext cx="4293394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509" b="1" dirty="0">
                <a:solidFill>
                  <a:srgbClr val="C2C3B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System Configuration &amp; Tuning</a:t>
            </a:r>
            <a:endParaRPr lang="en-US" sz="250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18"/>
          <p:cNvSpPr/>
          <p:nvPr/>
        </p:nvSpPr>
        <p:spPr>
          <a:xfrm>
            <a:off x="8461772" y="225028"/>
            <a:ext cx="267891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63" dirty="0">
                <a:solidFill>
                  <a:srgbClr val="5F605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FPS:60</a:t>
            </a:r>
            <a:endParaRPr lang="en-US" sz="56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460282" y="4758095"/>
            <a:ext cx="328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94466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8582"/>
            <a:ext cx="9144000" cy="25717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64919"/>
            <a:ext cx="9144000" cy="7858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2620"/>
            <a:ext cx="9144000" cy="50006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2531" y="4807744"/>
            <a:ext cx="92869" cy="9286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94" y="4811316"/>
            <a:ext cx="89297" cy="92869"/>
          </a:xfrm>
          <a:prstGeom prst="rect">
            <a:avLst/>
          </a:prstGeom>
        </p:spPr>
      </p:pic>
      <p:sp>
        <p:nvSpPr>
          <p:cNvPr id="8" name="Shape 0"/>
          <p:cNvSpPr/>
          <p:nvPr/>
        </p:nvSpPr>
        <p:spPr>
          <a:xfrm>
            <a:off x="5047059" y="3575447"/>
            <a:ext cx="3725466" cy="857250"/>
          </a:xfrm>
          <a:prstGeom prst="rect">
            <a:avLst/>
          </a:prstGeom>
          <a:solidFill>
            <a:srgbClr val="21221F"/>
          </a:solidFill>
          <a:ln/>
        </p:spPr>
      </p:sp>
      <p:sp>
        <p:nvSpPr>
          <p:cNvPr id="9" name="Text 1"/>
          <p:cNvSpPr/>
          <p:nvPr/>
        </p:nvSpPr>
        <p:spPr>
          <a:xfrm>
            <a:off x="5179219" y="3725466"/>
            <a:ext cx="3475434" cy="5500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A79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Utilizes a dedicated T4 GPU instance to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A8A79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ensure parallel processing speeds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A8A79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(half=True) capable of real-time execution.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2"/>
          <p:cNvSpPr/>
          <p:nvPr/>
        </p:nvSpPr>
        <p:spPr>
          <a:xfrm>
            <a:off x="2037755" y="4089797"/>
            <a:ext cx="13836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A69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Google Colab T4 GPU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A5A69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Environment rac</a:t>
            </a:r>
            <a:r>
              <a:rPr lang="en-US" sz="1200" b="1" dirty="0" smtClean="0">
                <a:solidFill>
                  <a:srgbClr val="A5A69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↘</a:t>
            </a:r>
          </a:p>
          <a:p>
            <a:pPr marL="0" indent="0" algn="l">
              <a:buNone/>
            </a:pPr>
            <a:r>
              <a:rPr lang="en-US" sz="1200" b="1" dirty="0" smtClean="0">
                <a:solidFill>
                  <a:srgbClr val="A5A69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(</a:t>
            </a:r>
            <a:r>
              <a:rPr lang="en-US" sz="1200" b="1" dirty="0">
                <a:solidFill>
                  <a:srgbClr val="A5A69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half=True)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17959" y="4257675"/>
            <a:ext cx="2750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41413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for</a:t>
            </a:r>
            <a:endParaRPr lang="en-US" sz="12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4"/>
          <p:cNvSpPr/>
          <p:nvPr/>
        </p:nvSpPr>
        <p:spPr>
          <a:xfrm>
            <a:off x="3821906" y="3328988"/>
            <a:ext cx="12072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51" dirty="0">
                <a:solidFill>
                  <a:srgbClr val="3E3F3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some_track)</a:t>
            </a:r>
            <a:endParaRPr lang="en-US" sz="165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5"/>
          <p:cNvSpPr/>
          <p:nvPr/>
        </p:nvSpPr>
        <p:spPr>
          <a:xfrm>
            <a:off x="1921669" y="3363287"/>
            <a:ext cx="135374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A09F9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Python 3 &amp; NumPy</a:t>
            </a:r>
            <a:endParaRPr lang="en-US" sz="12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5050631" y="2418159"/>
            <a:ext cx="3721894" cy="857250"/>
          </a:xfrm>
          <a:prstGeom prst="rect">
            <a:avLst/>
          </a:prstGeom>
          <a:solidFill>
            <a:srgbClr val="202220"/>
          </a:solidFill>
          <a:ln/>
        </p:spPr>
      </p:sp>
      <p:sp>
        <p:nvSpPr>
          <p:cNvPr id="15" name="Text 7"/>
          <p:cNvSpPr/>
          <p:nvPr/>
        </p:nvSpPr>
        <p:spPr>
          <a:xfrm>
            <a:off x="5179219" y="2768203"/>
            <a:ext cx="331470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BAB9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directly with Ultralytics output tensors,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ABAB9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utilizing the MobileNet embedder.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6470452" y="2586038"/>
            <a:ext cx="148947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11" b="1" dirty="0">
                <a:solidFill>
                  <a:srgbClr val="9F9F9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wrapper interfaces</a:t>
            </a:r>
            <a:endParaRPr lang="en-US" sz="131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9"/>
          <p:cNvSpPr/>
          <p:nvPr/>
        </p:nvSpPr>
        <p:spPr>
          <a:xfrm>
            <a:off x="5179219" y="2586038"/>
            <a:ext cx="147518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11" b="1" dirty="0">
                <a:solidFill>
                  <a:srgbClr val="56737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deep-sort-realtime</a:t>
            </a:r>
            <a:endParaRPr lang="en-US" sz="131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1671638" y="2561650"/>
            <a:ext cx="186094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63" b="1" dirty="0">
                <a:solidFill>
                  <a:srgbClr val="A3A39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Ultralytics YOLO API &amp;</a:t>
            </a:r>
            <a:endParaRPr lang="en-US" sz="146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63" b="1" dirty="0">
                <a:solidFill>
                  <a:srgbClr val="A3A39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deep-sort-realtime</a:t>
            </a:r>
            <a:endParaRPr lang="en-US" sz="146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1196578" y="2811066"/>
            <a:ext cx="46434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13" dirty="0">
                <a:solidFill>
                  <a:srgbClr val="41433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while</a:t>
            </a:r>
            <a:endParaRPr lang="en-US" sz="13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3893344" y="2286000"/>
            <a:ext cx="112871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9" dirty="0">
                <a:solidFill>
                  <a:srgbClr val="3D3E3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ragars_CLASS</a:t>
            </a:r>
            <a:endParaRPr lang="en-US" sz="140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4450556" y="1925241"/>
            <a:ext cx="35718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5" dirty="0">
                <a:solidFill>
                  <a:srgbClr val="3F403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PNG)</a:t>
            </a:r>
            <a:endParaRPr lang="en-US" sz="11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5050631" y="1228725"/>
            <a:ext cx="3721894" cy="860822"/>
          </a:xfrm>
          <a:prstGeom prst="rect">
            <a:avLst/>
          </a:prstGeom>
          <a:solidFill>
            <a:srgbClr val="212220"/>
          </a:solidFill>
          <a:ln/>
        </p:spPr>
      </p:sp>
      <p:sp>
        <p:nvSpPr>
          <p:cNvPr id="23" name="Text 15"/>
          <p:cNvSpPr/>
          <p:nvPr/>
        </p:nvSpPr>
        <p:spPr>
          <a:xfrm>
            <a:off x="5179219" y="1393031"/>
            <a:ext cx="50720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617E7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OpenCV</a:t>
            </a:r>
            <a:endParaRPr 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5179219" y="1575197"/>
            <a:ext cx="3496866" cy="3536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AD9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dynamic color palettes and alpha-blended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AEAD9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PNG assetsnatively on the videofeed.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5750719" y="1389459"/>
            <a:ext cx="292893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1B0A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handles matrix manipulations to draw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3714750" y="1950244"/>
            <a:ext cx="5500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F413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onitor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1839516" y="1520731"/>
            <a:ext cx="152161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44" b="1" dirty="0">
                <a:solidFill>
                  <a:srgbClr val="9A9A8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OpenCv (cv2)</a:t>
            </a:r>
            <a:endParaRPr lang="en-US" sz="134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44" b="1" dirty="0">
                <a:solidFill>
                  <a:srgbClr val="9A9A8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Frame Manipulation</a:t>
            </a:r>
            <a:endParaRPr lang="en-US" sz="134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1196578" y="1968103"/>
            <a:ext cx="464344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1491" dirty="0">
                <a:solidFill>
                  <a:srgbClr val="444948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trat</a:t>
            </a:r>
            <a:endParaRPr lang="en-US" sz="149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91" dirty="0">
                <a:solidFill>
                  <a:srgbClr val="444948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mod</a:t>
            </a:r>
            <a:endParaRPr lang="en-US" sz="149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91" dirty="0">
                <a:solidFill>
                  <a:srgbClr val="444948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el</a:t>
            </a:r>
            <a:endParaRPr lang="en-US" sz="149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810816" y="1753791"/>
            <a:ext cx="32504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13" dirty="0">
                <a:solidFill>
                  <a:srgbClr val="40413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whi.</a:t>
            </a:r>
            <a:endParaRPr lang="en-US" sz="13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1546622" y="1228725"/>
            <a:ext cx="42148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516" dirty="0">
                <a:solidFill>
                  <a:srgbClr val="3C3C3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cv2.f</a:t>
            </a:r>
            <a:endParaRPr lang="en-US" sz="151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400050" y="1032272"/>
            <a:ext cx="1075134" cy="5322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1496" dirty="0">
                <a:solidFill>
                  <a:srgbClr val="3D3E3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while loop:</a:t>
            </a:r>
            <a:endParaRPr lang="en-US" sz="14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en-US" sz="1496" dirty="0">
                <a:solidFill>
                  <a:srgbClr val="3D3E3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frame=</a:t>
            </a:r>
            <a:endParaRPr lang="en-US" sz="14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en-US" sz="1496" dirty="0">
                <a:solidFill>
                  <a:srgbClr val="3D3E3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track=</a:t>
            </a:r>
            <a:endParaRPr lang="en-US" sz="14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2531" y="235744"/>
            <a:ext cx="96441" cy="100013"/>
          </a:xfrm>
          <a:prstGeom prst="rect">
            <a:avLst/>
          </a:prstGeom>
        </p:spPr>
      </p:pic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738" y="242888"/>
            <a:ext cx="107156" cy="1035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46522" y="57150"/>
            <a:ext cx="232172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51" dirty="0">
                <a:solidFill>
                  <a:srgbClr val="57655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MILINE</a:t>
            </a:r>
            <a:endParaRPr lang="en-US" sz="55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196453" y="53578"/>
            <a:ext cx="51435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7" dirty="0">
                <a:solidFill>
                  <a:srgbClr val="54565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SYSTEH STATUS:</a:t>
            </a:r>
            <a:endParaRPr lang="en-US" sz="48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444" y="78581"/>
            <a:ext cx="46434" cy="4643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565356" y="4975622"/>
            <a:ext cx="52149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endParaRPr lang="en-US" sz="70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27"/>
          <p:cNvSpPr/>
          <p:nvPr/>
        </p:nvSpPr>
        <p:spPr>
          <a:xfrm>
            <a:off x="8236744" y="4989909"/>
            <a:ext cx="160734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7" dirty="0">
                <a:solidFill>
                  <a:srgbClr val="76736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OATA</a:t>
            </a:r>
            <a:endParaRPr lang="en-US" sz="48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28"/>
          <p:cNvSpPr/>
          <p:nvPr/>
        </p:nvSpPr>
        <p:spPr>
          <a:xfrm>
            <a:off x="692944" y="4993481"/>
            <a:ext cx="242888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32" dirty="0">
                <a:solidFill>
                  <a:srgbClr val="5F6E5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OKLIHE</a:t>
            </a:r>
            <a:endParaRPr lang="en-US" sz="53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29"/>
          <p:cNvSpPr/>
          <p:nvPr/>
        </p:nvSpPr>
        <p:spPr>
          <a:xfrm>
            <a:off x="128588" y="4989909"/>
            <a:ext cx="535781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06" dirty="0">
                <a:solidFill>
                  <a:srgbClr val="67676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SVSTEN STATUS:</a:t>
            </a:r>
            <a:endParaRPr lang="en-US" sz="50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0"/>
          <p:cNvSpPr/>
          <p:nvPr/>
        </p:nvSpPr>
        <p:spPr>
          <a:xfrm>
            <a:off x="8022431" y="307181"/>
            <a:ext cx="703659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63" dirty="0">
                <a:solidFill>
                  <a:srgbClr val="5F605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DATA FL0M:1.36ops</a:t>
            </a:r>
            <a:endParaRPr lang="en-US" sz="56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1"/>
          <p:cNvSpPr/>
          <p:nvPr/>
        </p:nvSpPr>
        <p:spPr>
          <a:xfrm>
            <a:off x="421481" y="375047"/>
            <a:ext cx="5225653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461" b="1" dirty="0">
                <a:solidFill>
                  <a:srgbClr val="C9CAB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Implementation Technology Stack</a:t>
            </a:r>
            <a:endParaRPr lang="en-US" sz="246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32"/>
          <p:cNvSpPr/>
          <p:nvPr/>
        </p:nvSpPr>
        <p:spPr>
          <a:xfrm>
            <a:off x="8461772" y="225028"/>
            <a:ext cx="267891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63" dirty="0">
                <a:solidFill>
                  <a:srgbClr val="61625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PPS:60</a:t>
            </a:r>
            <a:endParaRPr lang="en-US" sz="56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460282" y="4758095"/>
            <a:ext cx="328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044662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21443"/>
            <a:ext cx="9144000" cy="30718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68491"/>
            <a:ext cx="9144000" cy="7500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0019"/>
            <a:ext cx="9144000" cy="505782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2531" y="4807744"/>
            <a:ext cx="92869" cy="9286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591" y="4800600"/>
            <a:ext cx="125016" cy="12144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0631" y="3457575"/>
            <a:ext cx="3721894" cy="1117997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5175647" y="3889772"/>
            <a:ext cx="3403997" cy="5464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09F8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Successfully implemented conditional logic</a:t>
            </a:r>
          </a:p>
          <a:p>
            <a:pPr marL="0" indent="0" algn="l">
              <a:buNone/>
            </a:pPr>
            <a:r>
              <a:rPr lang="en-US" sz="1300" b="1" dirty="0">
                <a:solidFill>
                  <a:srgbClr val="A09F8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triggering custom alpha-blended PNG alerts</a:t>
            </a:r>
          </a:p>
          <a:p>
            <a:pPr marL="0" indent="0" algn="l">
              <a:buNone/>
            </a:pPr>
            <a:r>
              <a:rPr lang="en-US" sz="1300" b="1" dirty="0">
                <a:solidFill>
                  <a:srgbClr val="A09F8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when </a:t>
            </a:r>
            <a:r>
              <a:rPr lang="en-US" sz="1200" b="1" dirty="0">
                <a:solidFill>
                  <a:srgbClr val="A09F8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ALERT_CLASS</a:t>
            </a:r>
            <a:r>
              <a:rPr lang="en-US" sz="1300" b="1" dirty="0">
                <a:solidFill>
                  <a:srgbClr val="A09F8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='person' is detected.</a:t>
            </a:r>
          </a:p>
        </p:txBody>
      </p:sp>
      <p:sp>
        <p:nvSpPr>
          <p:cNvPr id="10" name="Text 1"/>
          <p:cNvSpPr/>
          <p:nvPr/>
        </p:nvSpPr>
        <p:spPr>
          <a:xfrm>
            <a:off x="5182791" y="3621881"/>
            <a:ext cx="173950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3" b="1" dirty="0">
                <a:solidFill>
                  <a:srgbClr val="ABAA9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Automated Alerts</a:t>
            </a:r>
            <a:endParaRPr lang="en-US" sz="180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2"/>
          <p:cNvSpPr/>
          <p:nvPr/>
        </p:nvSpPr>
        <p:spPr>
          <a:xfrm>
            <a:off x="7947422" y="3475434"/>
            <a:ext cx="76795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99" b="1" dirty="0">
                <a:solidFill>
                  <a:srgbClr val="33342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DATA FL0W:1.4 Gbps</a:t>
            </a:r>
            <a:endParaRPr lang="en-US" sz="5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3"/>
          <p:cNvSpPr/>
          <p:nvPr/>
        </p:nvSpPr>
        <p:spPr>
          <a:xfrm>
            <a:off x="5093494" y="3475434"/>
            <a:ext cx="75009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799" b="1" dirty="0">
                <a:solidFill>
                  <a:srgbClr val="32333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3</a:t>
            </a:r>
            <a:endParaRPr lang="en-US" sz="7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179219" y="2807494"/>
            <a:ext cx="3378994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09F8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Track IDs are mapped to unique RGB colors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00" b="1" dirty="0">
                <a:solidFill>
                  <a:srgbClr val="A09F8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generated dynamically via modulo </a:t>
            </a:r>
            <a:r>
              <a:rPr lang="en-US" sz="1300" b="1" dirty="0" smtClean="0">
                <a:solidFill>
                  <a:srgbClr val="A09F8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indexing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189934" y="2494597"/>
            <a:ext cx="2707481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A3A39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Dynamic Identity Palettes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3831" y="2318147"/>
            <a:ext cx="457200" cy="57150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5093494" y="2289572"/>
            <a:ext cx="7143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99" b="1" dirty="0">
                <a:solidFill>
                  <a:srgbClr val="32333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2</a:t>
            </a:r>
            <a:endParaRPr lang="en-US" sz="7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7"/>
          <p:cNvSpPr/>
          <p:nvPr/>
        </p:nvSpPr>
        <p:spPr>
          <a:xfrm>
            <a:off x="5050631" y="1221581"/>
            <a:ext cx="3714750" cy="989409"/>
          </a:xfrm>
          <a:prstGeom prst="rect">
            <a:avLst/>
          </a:prstGeom>
          <a:solidFill>
            <a:srgbClr val="222320"/>
          </a:solidFill>
          <a:ln/>
        </p:spPr>
      </p:sp>
      <p:sp>
        <p:nvSpPr>
          <p:cNvPr id="19" name="Text 8"/>
          <p:cNvSpPr/>
          <p:nvPr/>
        </p:nvSpPr>
        <p:spPr>
          <a:xfrm>
            <a:off x="5182791" y="1543050"/>
            <a:ext cx="3289697" cy="5500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87" b="1" dirty="0">
                <a:solidFill>
                  <a:srgbClr val="ADAC9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Processed 672x480 resolution input at an</a:t>
            </a:r>
            <a:endParaRPr lang="en-US" sz="138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87" b="1" dirty="0">
                <a:solidFill>
                  <a:srgbClr val="ADAC9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average of 43.4 FPS usingthe Nano model,</a:t>
            </a:r>
            <a:endParaRPr lang="en-US" sz="138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87" b="1" dirty="0">
                <a:solidFill>
                  <a:srgbClr val="ADAC9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achieving true real-time performance.</a:t>
            </a:r>
            <a:endParaRPr lang="en-US" sz="138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9"/>
          <p:cNvSpPr/>
          <p:nvPr/>
        </p:nvSpPr>
        <p:spPr>
          <a:xfrm>
            <a:off x="5179219" y="1271588"/>
            <a:ext cx="1096566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85" b="1" dirty="0">
                <a:solidFill>
                  <a:srgbClr val="B2B19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Throughput</a:t>
            </a:r>
            <a:endParaRPr lang="en-US" sz="168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36706" y="1139428"/>
            <a:ext cx="400050" cy="75009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7786688" y="1132284"/>
            <a:ext cx="139303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894" b="1" dirty="0">
                <a:solidFill>
                  <a:srgbClr val="30353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...</a:t>
            </a:r>
            <a:endParaRPr lang="en-US" sz="89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1"/>
          <p:cNvSpPr/>
          <p:nvPr/>
        </p:nvSpPr>
        <p:spPr>
          <a:xfrm>
            <a:off x="5100638" y="1128713"/>
            <a:ext cx="5715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31" b="1" dirty="0">
                <a:solidFill>
                  <a:srgbClr val="32332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1</a:t>
            </a:r>
            <a:endParaRPr lang="en-US" sz="73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2013" y="4457700"/>
            <a:ext cx="103584" cy="100013"/>
          </a:xfrm>
          <a:prstGeom prst="rect">
            <a:avLst/>
          </a:prstGeom>
        </p:spPr>
      </p:pic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247" y="4436269"/>
            <a:ext cx="100013" cy="100013"/>
          </a:xfrm>
          <a:prstGeom prst="rect">
            <a:avLst/>
          </a:prstGeom>
        </p:spPr>
      </p:pic>
      <p:pic>
        <p:nvPicPr>
          <p:cNvPr id="27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6503" y="4450556"/>
            <a:ext cx="71438" cy="67866"/>
          </a:xfrm>
          <a:prstGeom prst="rect">
            <a:avLst/>
          </a:prstGeom>
        </p:spPr>
      </p:pic>
      <p:sp>
        <p:nvSpPr>
          <p:cNvPr id="29" name="Text 13"/>
          <p:cNvSpPr/>
          <p:nvPr/>
        </p:nvSpPr>
        <p:spPr>
          <a:xfrm>
            <a:off x="2411016" y="2428875"/>
            <a:ext cx="8001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endParaRPr lang="en-US" sz="142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1503759" y="2407444"/>
            <a:ext cx="789384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endParaRPr lang="en-US" sz="147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39841" y="1200150"/>
            <a:ext cx="57150" cy="57150"/>
          </a:xfrm>
          <a:prstGeom prst="rect">
            <a:avLst/>
          </a:prstGeom>
        </p:spPr>
      </p:pic>
      <p:sp>
        <p:nvSpPr>
          <p:cNvPr id="34" name="Text 16"/>
          <p:cNvSpPr/>
          <p:nvPr/>
        </p:nvSpPr>
        <p:spPr>
          <a:xfrm>
            <a:off x="710803" y="4432697"/>
            <a:ext cx="8929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23" b="1" dirty="0">
                <a:solidFill>
                  <a:srgbClr val="484B48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II</a:t>
            </a:r>
            <a:endParaRPr lang="en-US" sz="92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17"/>
          <p:cNvSpPr/>
          <p:nvPr/>
        </p:nvSpPr>
        <p:spPr>
          <a:xfrm>
            <a:off x="3761184" y="2453878"/>
            <a:ext cx="7929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endParaRPr lang="en-US" sz="139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18"/>
          <p:cNvSpPr/>
          <p:nvPr/>
        </p:nvSpPr>
        <p:spPr>
          <a:xfrm>
            <a:off x="3896916" y="1385888"/>
            <a:ext cx="80724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endParaRPr lang="en-US" sz="152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19"/>
          <p:cNvSpPr/>
          <p:nvPr/>
        </p:nvSpPr>
        <p:spPr>
          <a:xfrm>
            <a:off x="571500" y="1175147"/>
            <a:ext cx="53578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32" dirty="0">
                <a:solidFill>
                  <a:srgbClr val="31333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VTDEO OUTPUT</a:t>
            </a:r>
            <a:endParaRPr lang="en-US" sz="53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22531" y="235744"/>
            <a:ext cx="96441" cy="100013"/>
          </a:xfrm>
          <a:prstGeom prst="rect">
            <a:avLst/>
          </a:prstGeom>
        </p:spPr>
      </p:pic>
      <p:pic>
        <p:nvPicPr>
          <p:cNvPr id="3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5738" y="242888"/>
            <a:ext cx="107156" cy="107156"/>
          </a:xfrm>
          <a:prstGeom prst="rect">
            <a:avLst/>
          </a:prstGeom>
        </p:spPr>
      </p:pic>
      <p:sp>
        <p:nvSpPr>
          <p:cNvPr id="40" name="Text 20"/>
          <p:cNvSpPr/>
          <p:nvPr/>
        </p:nvSpPr>
        <p:spPr>
          <a:xfrm>
            <a:off x="746522" y="53578"/>
            <a:ext cx="23574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54" dirty="0">
                <a:solidFill>
                  <a:srgbClr val="5A675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MILINE</a:t>
            </a:r>
            <a:endParaRPr lang="en-US" sz="55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21"/>
          <p:cNvSpPr/>
          <p:nvPr/>
        </p:nvSpPr>
        <p:spPr>
          <a:xfrm>
            <a:off x="196453" y="53578"/>
            <a:ext cx="510778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1" dirty="0">
                <a:solidFill>
                  <a:srgbClr val="585958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SYSTEH STATUS:</a:t>
            </a:r>
            <a:endParaRPr lang="en-US" sz="48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2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1444" y="78581"/>
            <a:ext cx="46434" cy="46434"/>
          </a:xfrm>
          <a:prstGeom prst="rect">
            <a:avLst/>
          </a:prstGeom>
        </p:spPr>
      </p:pic>
      <p:sp>
        <p:nvSpPr>
          <p:cNvPr id="43" name="Text 22"/>
          <p:cNvSpPr/>
          <p:nvPr/>
        </p:nvSpPr>
        <p:spPr>
          <a:xfrm>
            <a:off x="8565356" y="4975622"/>
            <a:ext cx="517922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endParaRPr lang="en-US" sz="68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23"/>
          <p:cNvSpPr/>
          <p:nvPr/>
        </p:nvSpPr>
        <p:spPr>
          <a:xfrm>
            <a:off x="8236744" y="4989909"/>
            <a:ext cx="160734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4" dirty="0">
                <a:solidFill>
                  <a:srgbClr val="77726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OATA</a:t>
            </a:r>
            <a:endParaRPr lang="en-US" sz="48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24"/>
          <p:cNvSpPr/>
          <p:nvPr/>
        </p:nvSpPr>
        <p:spPr>
          <a:xfrm>
            <a:off x="692944" y="4993481"/>
            <a:ext cx="246459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616D5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OKLIHE</a:t>
            </a:r>
            <a:endParaRPr lang="en-US" sz="5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25"/>
          <p:cNvSpPr/>
          <p:nvPr/>
        </p:nvSpPr>
        <p:spPr>
          <a:xfrm>
            <a:off x="128588" y="4989909"/>
            <a:ext cx="535781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92" dirty="0">
                <a:solidFill>
                  <a:srgbClr val="68696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SVSTEN STATUS:</a:t>
            </a:r>
            <a:endParaRPr lang="en-US" sz="49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26"/>
          <p:cNvSpPr/>
          <p:nvPr/>
        </p:nvSpPr>
        <p:spPr>
          <a:xfrm>
            <a:off x="8022431" y="307181"/>
            <a:ext cx="703659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63" dirty="0">
                <a:solidFill>
                  <a:srgbClr val="62635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DATAFL0K:1.46ops</a:t>
            </a:r>
            <a:endParaRPr lang="en-US" sz="56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27"/>
          <p:cNvSpPr/>
          <p:nvPr/>
        </p:nvSpPr>
        <p:spPr>
          <a:xfrm>
            <a:off x="450056" y="371475"/>
            <a:ext cx="5636419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16" b="1" dirty="0">
                <a:solidFill>
                  <a:srgbClr val="B9B9A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Real-Time Tracking &amp; Dynamic Annotation</a:t>
            </a:r>
            <a:endParaRPr lang="en-US" sz="241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28"/>
          <p:cNvSpPr/>
          <p:nvPr/>
        </p:nvSpPr>
        <p:spPr>
          <a:xfrm>
            <a:off x="8461772" y="225028"/>
            <a:ext cx="267891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63" dirty="0">
                <a:solidFill>
                  <a:srgbClr val="64655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PFS:60</a:t>
            </a:r>
            <a:endParaRPr lang="en-US" sz="56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460282" y="4758095"/>
            <a:ext cx="458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2543" y="1197679"/>
            <a:ext cx="4510938" cy="332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326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8723"/>
            <a:ext cx="9144000" cy="5310787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28" y="153591"/>
            <a:ext cx="8918972" cy="486846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5778" y="1703784"/>
            <a:ext cx="2532459" cy="164306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1134" y="1550194"/>
            <a:ext cx="2343150" cy="173593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3363" y="2382441"/>
            <a:ext cx="1560909" cy="88582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6222206" y="3554016"/>
            <a:ext cx="2500313" cy="8251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7" b="1" dirty="0">
                <a:solidFill>
                  <a:srgbClr val="B2B5B8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Drastic lighting changes alter</a:t>
            </a:r>
            <a:endParaRPr lang="en-US" sz="134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47" b="1" dirty="0">
                <a:solidFill>
                  <a:srgbClr val="B2B5B8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core pixel values, which can trick</a:t>
            </a:r>
            <a:endParaRPr lang="en-US" sz="134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47" b="1" dirty="0">
                <a:solidFill>
                  <a:srgbClr val="B2B5B8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cosine distance metric into</a:t>
            </a:r>
            <a:endParaRPr lang="en-US" sz="134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47" b="1" dirty="0">
                <a:solidFill>
                  <a:srgbClr val="B2B5B8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failing the appearance match.</a:t>
            </a:r>
            <a:endParaRPr lang="en-US" sz="134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1"/>
          <p:cNvSpPr/>
          <p:nvPr/>
        </p:nvSpPr>
        <p:spPr>
          <a:xfrm>
            <a:off x="3325416" y="3546872"/>
            <a:ext cx="2478881" cy="10072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6" b="1" dirty="0">
                <a:solidFill>
                  <a:srgbClr val="B9BDC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Kalman filter fundamentally</a:t>
            </a:r>
            <a:endParaRPr lang="en-US" sz="135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56" b="1" dirty="0">
                <a:solidFill>
                  <a:srgbClr val="B9BDC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assumes linear, predictable</a:t>
            </a:r>
            <a:endParaRPr lang="en-US" sz="135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56" b="1" dirty="0">
                <a:solidFill>
                  <a:srgbClr val="B9BDC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velocity. Rapid, non-linear motion</a:t>
            </a:r>
            <a:endParaRPr lang="en-US" sz="135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56" b="1" dirty="0">
                <a:solidFill>
                  <a:srgbClr val="B9BDC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blur breaks the trajectory model.</a:t>
            </a:r>
            <a:endParaRPr lang="en-US" sz="135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2"/>
          <p:cNvSpPr/>
          <p:nvPr/>
        </p:nvSpPr>
        <p:spPr>
          <a:xfrm>
            <a:off x="417909" y="3546872"/>
            <a:ext cx="2389584" cy="1232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6" b="1" dirty="0">
                <a:solidFill>
                  <a:srgbClr val="B2B6B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If an object remains hidden</a:t>
            </a:r>
            <a:endParaRPr lang="en-US" sz="135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56" b="1" dirty="0">
                <a:solidFill>
                  <a:srgbClr val="B2B6B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longer than the 30-frame</a:t>
            </a:r>
            <a:endParaRPr lang="en-US" sz="135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56" b="1" dirty="0">
                <a:solidFill>
                  <a:srgbClr val="B2B6B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max_age, the system forcefully</a:t>
            </a:r>
            <a:endParaRPr lang="en-US" sz="135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56" b="1" dirty="0">
                <a:solidFill>
                  <a:srgbClr val="B2B6B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drops the track, resulting in an</a:t>
            </a:r>
            <a:endParaRPr lang="en-US" sz="135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56" b="1" dirty="0">
                <a:solidFill>
                  <a:srgbClr val="B2B6B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Identity Switch upon re-</a:t>
            </a:r>
            <a:endParaRPr lang="en-US" sz="135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56" b="1" dirty="0">
                <a:solidFill>
                  <a:srgbClr val="B2B6B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emergence.</a:t>
            </a:r>
            <a:endParaRPr lang="en-US" sz="135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3"/>
          <p:cNvSpPr/>
          <p:nvPr/>
        </p:nvSpPr>
        <p:spPr>
          <a:xfrm>
            <a:off x="6525816" y="1114425"/>
            <a:ext cx="192524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86" b="1" dirty="0">
                <a:solidFill>
                  <a:srgbClr val="BDC0C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Illumination Shifts</a:t>
            </a:r>
            <a:endParaRPr lang="en-US" sz="198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4"/>
          <p:cNvSpPr/>
          <p:nvPr/>
        </p:nvSpPr>
        <p:spPr>
          <a:xfrm>
            <a:off x="3468291" y="1110853"/>
            <a:ext cx="2214563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32" b="1" dirty="0">
                <a:solidFill>
                  <a:srgbClr val="ACAFB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Fast &amp; Erratic Motion</a:t>
            </a:r>
            <a:endParaRPr lang="en-US" sz="193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5"/>
          <p:cNvSpPr/>
          <p:nvPr/>
        </p:nvSpPr>
        <p:spPr>
          <a:xfrm>
            <a:off x="757238" y="1117997"/>
            <a:ext cx="18359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93" b="1" dirty="0">
                <a:solidFill>
                  <a:srgbClr val="ABAEB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Severe Occlusion</a:t>
            </a:r>
            <a:endParaRPr lang="en-US" sz="189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6"/>
          <p:cNvSpPr/>
          <p:nvPr/>
        </p:nvSpPr>
        <p:spPr>
          <a:xfrm>
            <a:off x="428625" y="360759"/>
            <a:ext cx="8122444" cy="4321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091" b="1" dirty="0">
                <a:solidFill>
                  <a:srgbClr val="B9BCC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Navigating System Limitations And Edge Cases</a:t>
            </a:r>
            <a:endParaRPr lang="en-US" sz="309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7"/>
          <p:cNvSpPr/>
          <p:nvPr/>
        </p:nvSpPr>
        <p:spPr>
          <a:xfrm>
            <a:off x="8565356" y="4975622"/>
            <a:ext cx="521494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endParaRPr lang="en-US" sz="70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60282" y="4758095"/>
            <a:ext cx="520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301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0835"/>
            <a:ext cx="9144000" cy="529867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" y="4879181"/>
            <a:ext cx="250031" cy="139303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2153" y="5050631"/>
            <a:ext cx="8986838" cy="10716"/>
          </a:xfrm>
          <a:prstGeom prst="rect">
            <a:avLst/>
          </a:prstGeom>
          <a:solidFill>
            <a:srgbClr val="424A4D"/>
          </a:solidFill>
          <a:ln/>
        </p:spPr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5069" y="1432322"/>
            <a:ext cx="2346722" cy="234672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5984" y="2811066"/>
            <a:ext cx="64294" cy="6786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9709" y="1435894"/>
            <a:ext cx="2361009" cy="2361009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638" y="1439466"/>
            <a:ext cx="2361009" cy="2361009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01088" y="271463"/>
            <a:ext cx="257175" cy="128588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164306" y="4943475"/>
            <a:ext cx="57150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58" dirty="0">
                <a:solidFill>
                  <a:srgbClr val="383E4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B4TAT204:1-2 66ps</a:t>
            </a:r>
            <a:endParaRPr lang="en-US" sz="45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565356" y="4972050"/>
            <a:ext cx="51792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endParaRPr lang="en-US" sz="68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3"/>
          <p:cNvSpPr/>
          <p:nvPr/>
        </p:nvSpPr>
        <p:spPr>
          <a:xfrm>
            <a:off x="164306" y="4872038"/>
            <a:ext cx="575072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470" dirty="0">
                <a:solidFill>
                  <a:srgbClr val="343B4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BATA FL08:1.4 Goos</a:t>
            </a:r>
            <a:endParaRPr lang="en-US" sz="4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4"/>
          <p:cNvSpPr/>
          <p:nvPr/>
        </p:nvSpPr>
        <p:spPr>
          <a:xfrm>
            <a:off x="314325" y="4811316"/>
            <a:ext cx="71438" cy="571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416" dirty="0">
                <a:solidFill>
                  <a:srgbClr val="3C444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60</a:t>
            </a:r>
            <a:endParaRPr lang="en-US" sz="41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5"/>
          <p:cNvSpPr/>
          <p:nvPr/>
        </p:nvSpPr>
        <p:spPr>
          <a:xfrm>
            <a:off x="167878" y="4811316"/>
            <a:ext cx="125016" cy="607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80" dirty="0">
                <a:solidFill>
                  <a:srgbClr val="353D4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PFSR</a:t>
            </a:r>
            <a:endParaRPr lang="en-US" sz="3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6"/>
          <p:cNvSpPr/>
          <p:nvPr/>
        </p:nvSpPr>
        <p:spPr>
          <a:xfrm>
            <a:off x="160734" y="4732734"/>
            <a:ext cx="639366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97" dirty="0">
                <a:solidFill>
                  <a:srgbClr val="38404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STSTEM STATOS:OHLTHE</a:t>
            </a:r>
            <a:endParaRPr lang="en-US" sz="39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7"/>
          <p:cNvSpPr/>
          <p:nvPr/>
        </p:nvSpPr>
        <p:spPr>
          <a:xfrm>
            <a:off x="6268641" y="3989784"/>
            <a:ext cx="2368153" cy="4893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1" b="1" dirty="0">
                <a:solidFill>
                  <a:srgbClr val="A6A9A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Extracting persistent unique player IDs to</a:t>
            </a:r>
            <a:endParaRPr lang="en-US" sz="104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41" b="1" dirty="0">
                <a:solidFill>
                  <a:srgbClr val="A6A9A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automatically generate complex velocity</a:t>
            </a:r>
            <a:endParaRPr lang="en-US" sz="104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41" b="1" dirty="0">
                <a:solidFill>
                  <a:srgbClr val="A6A9A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statistics and spatial heatmaps</a:t>
            </a:r>
            <a:endParaRPr lang="en-US" sz="104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8"/>
          <p:cNvSpPr/>
          <p:nvPr/>
        </p:nvSpPr>
        <p:spPr>
          <a:xfrm>
            <a:off x="3446859" y="3989784"/>
            <a:ext cx="2264569" cy="4929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9" b="1" dirty="0">
                <a:solidFill>
                  <a:srgbClr val="A5A8A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Utilizing temporal state memory to</a:t>
            </a:r>
            <a:endParaRPr lang="en-US" sz="104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49" b="1" dirty="0">
                <a:solidFill>
                  <a:srgbClr val="A5A8A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calculate pedestrian trajectory and</a:t>
            </a:r>
            <a:endParaRPr lang="en-US" sz="104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49" b="1" dirty="0">
                <a:solidFill>
                  <a:srgbClr val="A5A8A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velocity, critical for collision avoidance</a:t>
            </a:r>
            <a:endParaRPr lang="en-US" sz="104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9"/>
          <p:cNvSpPr/>
          <p:nvPr/>
        </p:nvSpPr>
        <p:spPr>
          <a:xfrm>
            <a:off x="617934" y="3989784"/>
            <a:ext cx="2200275" cy="6465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2" b="1" dirty="0">
                <a:solidFill>
                  <a:srgbClr val="9A9EA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Scaling the pipeline's custom</a:t>
            </a:r>
            <a:endParaRPr lang="en-US" sz="103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32" b="1" dirty="0">
                <a:solidFill>
                  <a:srgbClr val="9A9EA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class-filtering logic to automatically</a:t>
            </a:r>
            <a:endParaRPr lang="en-US" sz="103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32" b="1" dirty="0">
                <a:solidFill>
                  <a:srgbClr val="9A9EA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trigger security protocols for specific</a:t>
            </a:r>
            <a:endParaRPr lang="en-US" sz="103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32" b="1" dirty="0">
                <a:solidFill>
                  <a:srgbClr val="9A9EA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object intrusions.</a:t>
            </a:r>
            <a:endParaRPr lang="en-US" sz="103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7354491" y="3025378"/>
            <a:ext cx="967978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06" dirty="0">
                <a:solidFill>
                  <a:srgbClr val="84888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SPATIALHEATHAP:GENERATED</a:t>
            </a:r>
            <a:endParaRPr lang="en-US" sz="50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7965281" y="2796778"/>
            <a:ext cx="23217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44" dirty="0">
                <a:solidFill>
                  <a:srgbClr val="8C919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10:84</a:t>
            </a:r>
            <a:endParaRPr lang="en-US" sz="64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6811566" y="2743200"/>
            <a:ext cx="232172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644" dirty="0">
                <a:solidFill>
                  <a:srgbClr val="878D98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10:12</a:t>
            </a:r>
            <a:endParaRPr lang="en-US" sz="64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7518797" y="2464594"/>
            <a:ext cx="85725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43" dirty="0">
                <a:solidFill>
                  <a:srgbClr val="8D919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65</a:t>
            </a:r>
            <a:endParaRPr lang="en-US" sz="54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7375922" y="2464594"/>
            <a:ext cx="107156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608" dirty="0">
                <a:solidFill>
                  <a:srgbClr val="85868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I0:</a:t>
            </a:r>
            <a:endParaRPr lang="en-US" sz="60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6754416" y="2403872"/>
            <a:ext cx="228600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58" dirty="0">
                <a:solidFill>
                  <a:srgbClr val="82878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ID:12</a:t>
            </a:r>
            <a:endParaRPr lang="en-US" sz="65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7990284" y="2303859"/>
            <a:ext cx="22860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608" dirty="0">
                <a:solidFill>
                  <a:srgbClr val="85898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10:89</a:t>
            </a:r>
            <a:endParaRPr lang="en-US" sz="60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6747272" y="1871663"/>
            <a:ext cx="90725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18" dirty="0">
                <a:solidFill>
                  <a:srgbClr val="8E949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PLAYER 1D:TRACKINS</a:t>
            </a:r>
            <a:endParaRPr lang="en-US" sz="51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518" dirty="0">
                <a:solidFill>
                  <a:srgbClr val="8E949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VELOCITY STATS:UPOATINS</a:t>
            </a:r>
            <a:endParaRPr lang="en-US" sz="51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5114925" y="2846784"/>
            <a:ext cx="22145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28" dirty="0">
                <a:solidFill>
                  <a:srgbClr val="68A6A8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+1.8s</a:t>
            </a:r>
            <a:endParaRPr lang="en-US" sz="72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9"/>
          <p:cNvSpPr/>
          <p:nvPr/>
        </p:nvSpPr>
        <p:spPr>
          <a:xfrm>
            <a:off x="4471988" y="2843213"/>
            <a:ext cx="22860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A6AD79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+0.5s</a:t>
            </a: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0"/>
          <p:cNvSpPr/>
          <p:nvPr/>
        </p:nvSpPr>
        <p:spPr>
          <a:xfrm>
            <a:off x="4843463" y="2393156"/>
            <a:ext cx="22860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692" b="1" dirty="0">
                <a:solidFill>
                  <a:srgbClr val="6AA3A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+1.8s</a:t>
            </a:r>
            <a:endParaRPr lang="en-US" sz="69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1"/>
          <p:cNvSpPr/>
          <p:nvPr/>
        </p:nvSpPr>
        <p:spPr>
          <a:xfrm>
            <a:off x="3929063" y="1839516"/>
            <a:ext cx="978694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512" dirty="0">
                <a:solidFill>
                  <a:srgbClr val="ACB6B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TRAJECTORY</a:t>
            </a:r>
            <a:endParaRPr lang="en-US" sz="51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512" dirty="0">
                <a:solidFill>
                  <a:srgbClr val="ACB6B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PATH:PREDZCTED</a:t>
            </a:r>
            <a:endParaRPr lang="en-US" sz="51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512" dirty="0">
                <a:solidFill>
                  <a:srgbClr val="ACB6B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VELOCETY:1.4m/s</a:t>
            </a:r>
            <a:endParaRPr lang="en-US" sz="51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1153716" y="3282553"/>
            <a:ext cx="111799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32" dirty="0">
                <a:solidFill>
                  <a:srgbClr val="858B8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CLASS FILTER: 'person' DETECTED</a:t>
            </a:r>
            <a:endParaRPr lang="en-US" sz="53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3"/>
          <p:cNvSpPr/>
          <p:nvPr/>
        </p:nvSpPr>
        <p:spPr>
          <a:xfrm>
            <a:off x="6854428" y="1160859"/>
            <a:ext cx="1189434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13" b="1" dirty="0">
                <a:solidFill>
                  <a:srgbClr val="A8ADB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Sports Analytics</a:t>
            </a:r>
            <a:endParaRPr lang="en-US" sz="13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4"/>
          <p:cNvSpPr/>
          <p:nvPr/>
        </p:nvSpPr>
        <p:spPr>
          <a:xfrm>
            <a:off x="3836194" y="1153716"/>
            <a:ext cx="148947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13" b="1" dirty="0">
                <a:solidFill>
                  <a:srgbClr val="9FA4A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Autonomous Driving</a:t>
            </a:r>
            <a:endParaRPr lang="en-US" sz="13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900113" y="1150144"/>
            <a:ext cx="164306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30" b="1" dirty="0">
                <a:solidFill>
                  <a:srgbClr val="9A9EA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Intelligent Surveillance</a:t>
            </a:r>
            <a:endParaRPr lang="en-US" sz="13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6"/>
          <p:cNvSpPr/>
          <p:nvPr/>
        </p:nvSpPr>
        <p:spPr>
          <a:xfrm>
            <a:off x="421481" y="528638"/>
            <a:ext cx="6582966" cy="3607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410" b="1" dirty="0">
                <a:solidFill>
                  <a:srgbClr val="B6BCC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Deploying Tracking Into Real-World Environments</a:t>
            </a:r>
            <a:endParaRPr lang="en-US" sz="24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27"/>
          <p:cNvSpPr/>
          <p:nvPr/>
        </p:nvSpPr>
        <p:spPr>
          <a:xfrm>
            <a:off x="8043863" y="332184"/>
            <a:ext cx="632222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32" dirty="0">
                <a:solidFill>
                  <a:srgbClr val="39414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DATAFL0N:1.4.6bps</a:t>
            </a:r>
            <a:endParaRPr lang="en-US" sz="53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28"/>
          <p:cNvSpPr/>
          <p:nvPr/>
        </p:nvSpPr>
        <p:spPr>
          <a:xfrm>
            <a:off x="8040291" y="257175"/>
            <a:ext cx="246459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540" b="1" dirty="0">
                <a:solidFill>
                  <a:srgbClr val="383F4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PE5:68</a:t>
            </a:r>
            <a:endParaRPr lang="en-US" sz="5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29"/>
          <p:cNvSpPr/>
          <p:nvPr/>
        </p:nvSpPr>
        <p:spPr>
          <a:xfrm>
            <a:off x="8043863" y="175022"/>
            <a:ext cx="700088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56" dirty="0">
                <a:solidFill>
                  <a:srgbClr val="383F4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SVSTEH STATUS:ONLINE</a:t>
            </a:r>
            <a:endParaRPr lang="en-US" sz="45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460281" y="4758095"/>
            <a:ext cx="497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820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6612"/>
            <a:ext cx="9144000" cy="531684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6612"/>
            <a:ext cx="9144000" cy="5462177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5025628" y="4096941"/>
            <a:ext cx="59293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176" dirty="0"/>
          </a:p>
        </p:txBody>
      </p:sp>
      <p:sp>
        <p:nvSpPr>
          <p:cNvPr id="14" name="Text 7"/>
          <p:cNvSpPr/>
          <p:nvPr/>
        </p:nvSpPr>
        <p:spPr>
          <a:xfrm>
            <a:off x="3632597" y="4100513"/>
            <a:ext cx="8465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195" dirty="0"/>
          </a:p>
        </p:txBody>
      </p:sp>
      <p:sp>
        <p:nvSpPr>
          <p:cNvPr id="15" name="Text 8"/>
          <p:cNvSpPr/>
          <p:nvPr/>
        </p:nvSpPr>
        <p:spPr>
          <a:xfrm>
            <a:off x="3046809" y="4096941"/>
            <a:ext cx="51792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176" dirty="0"/>
          </a:p>
        </p:txBody>
      </p:sp>
      <p:sp>
        <p:nvSpPr>
          <p:cNvPr id="19" name="Text 10"/>
          <p:cNvSpPr/>
          <p:nvPr/>
        </p:nvSpPr>
        <p:spPr>
          <a:xfrm>
            <a:off x="8565356" y="4968478"/>
            <a:ext cx="52149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endParaRPr lang="en-US" sz="692" dirty="0"/>
          </a:p>
        </p:txBody>
      </p:sp>
      <p:sp>
        <p:nvSpPr>
          <p:cNvPr id="20" name="Text 11"/>
          <p:cNvSpPr/>
          <p:nvPr/>
        </p:nvSpPr>
        <p:spPr>
          <a:xfrm>
            <a:off x="2936081" y="2750344"/>
            <a:ext cx="330398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endParaRPr lang="en-US" sz="2489" dirty="0"/>
          </a:p>
        </p:txBody>
      </p:sp>
      <p:sp>
        <p:nvSpPr>
          <p:cNvPr id="21" name="Text 12"/>
          <p:cNvSpPr/>
          <p:nvPr/>
        </p:nvSpPr>
        <p:spPr>
          <a:xfrm>
            <a:off x="2905720" y="2250281"/>
            <a:ext cx="3364706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5468" b="1" dirty="0">
                <a:solidFill>
                  <a:srgbClr val="CFD6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Thank You.</a:t>
            </a:r>
            <a:endParaRPr lang="en-US" sz="546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3"/>
          <p:cNvSpPr/>
          <p:nvPr/>
        </p:nvSpPr>
        <p:spPr>
          <a:xfrm>
            <a:off x="8043863" y="328613"/>
            <a:ext cx="63222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532" dirty="0"/>
          </a:p>
        </p:txBody>
      </p:sp>
      <p:sp>
        <p:nvSpPr>
          <p:cNvPr id="23" name="Text 14"/>
          <p:cNvSpPr/>
          <p:nvPr/>
        </p:nvSpPr>
        <p:spPr>
          <a:xfrm>
            <a:off x="8043863" y="257175"/>
            <a:ext cx="246459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endParaRPr lang="en-US" sz="532" dirty="0"/>
          </a:p>
        </p:txBody>
      </p:sp>
      <p:sp>
        <p:nvSpPr>
          <p:cNvPr id="24" name="Text 15"/>
          <p:cNvSpPr/>
          <p:nvPr/>
        </p:nvSpPr>
        <p:spPr>
          <a:xfrm>
            <a:off x="8040291" y="175022"/>
            <a:ext cx="707231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442" dirty="0"/>
          </a:p>
        </p:txBody>
      </p:sp>
    </p:spTree>
    <p:extLst>
      <p:ext uri="{BB962C8B-B14F-4D97-AF65-F5344CB8AC3E}">
        <p14:creationId xmlns:p14="http://schemas.microsoft.com/office/powerpoint/2010/main" val="3766812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1047</Words>
  <Application>Microsoft Office PowerPoint</Application>
  <PresentationFormat>On-screen Show (16:9)</PresentationFormat>
  <Paragraphs>374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Inter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DELL.CC</cp:lastModifiedBy>
  <cp:revision>14</cp:revision>
  <dcterms:created xsi:type="dcterms:W3CDTF">2026-05-03T15:15:29Z</dcterms:created>
  <dcterms:modified xsi:type="dcterms:W3CDTF">2026-05-13T12:05:40Z</dcterms:modified>
</cp:coreProperties>
</file>